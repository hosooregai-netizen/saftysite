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5"/>
          </a:solidFill>
          <a:ln>
            <a:solidFill>
              <a:srgbClr val="F2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85800"/>
            <a:ext cx="4572000" cy="5394960"/>
          </a:xfrm>
          <a:prstGeom prst="roundRect">
            <a:avLst/>
          </a:prstGeom>
          <a:solidFill>
            <a:srgbClr val="0E2047"/>
          </a:solidFill>
          <a:ln>
            <a:solidFill>
              <a:srgbClr val="0E2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32120" y="868680"/>
            <a:ext cx="5897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2120" y="2240280"/>
            <a:ext cx="2834640" cy="1600200"/>
          </a:xfrm>
          <a:prstGeom prst="roundRect">
            <a:avLst/>
          </a:prstGeom>
          <a:solidFill>
            <a:srgbClr val="137A7F"/>
          </a:solidFill>
          <a:ln>
            <a:solidFill>
              <a:srgbClr val="137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0" y="2240280"/>
            <a:ext cx="2834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532120" y="4023360"/>
            <a:ext cx="58978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SAFETY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한국종합안전</a:t>
            </a:r>
          </a:p>
          <a:p>
            <a:pPr>
              <a:spcAft>
                <a:spcPts val="200"/>
              </a:spcAft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사용 설명서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관제와 지도요원이 실제 업무에서</a:t>
            </a:r>
          </a:p>
          <a:p>
            <a:pPr>
              <a:spcAft>
                <a:spcPts val="200"/>
              </a:spcAft>
              <a:defRPr sz="1800" b="0">
                <a:solidFill>
                  <a:srgbClr val="FFFFFF"/>
                </a:solidFill>
                <a:latin typeface="Malgun Gothic"/>
              </a:defRPr>
            </a:pPr>
            <a:r>
              <a:t>어떤 메뉴를 어떻게 쓰는지 빠르게 안내하는 PPT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2026.04.20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0972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0E2047"/>
                </a:solidFill>
                <a:latin typeface="Malgun Gothic"/>
              </a:defRPr>
            </a:pPr>
            <a:r>
              <a:t>역할별 핵심 메뉴와 사용 흐름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관제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9260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관리 대시보드</a:t>
            </a:r>
          </a:p>
          <a:p>
            <a:pPr>
              <a:spcAft>
                <a:spcPts val="200"/>
              </a:spcAft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사업장/현장</a:t>
            </a:r>
          </a:p>
          <a:p>
            <a:pPr>
              <a:spcAft>
                <a:spcPts val="200"/>
              </a:spcAft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일정·메일·보고서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37A7F"/>
                </a:solidFill>
                <a:latin typeface="Malgun Gothic"/>
              </a:defRPr>
            </a:pPr>
            <a:r>
              <a:t>지도요원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92608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242A37"/>
                </a:solidFill>
                <a:latin typeface="Malgun Gothic"/>
              </a:defRPr>
            </a:pPr>
            <a:r>
              <a:t>배정 현장 확인</a:t>
            </a:r>
          </a:p>
          <a:p>
            <a:pPr>
              <a:spcAft>
                <a:spcPts val="200"/>
              </a:spcAft>
              <a:defRPr sz="1600" b="0">
                <a:solidFill>
                  <a:srgbClr val="242A37"/>
                </a:solidFill>
                <a:latin typeface="Malgun Gothic"/>
              </a:defRPr>
            </a:pPr>
            <a:r>
              <a:t>일정 등록·수정</a:t>
            </a:r>
          </a:p>
          <a:p>
            <a:pPr>
              <a:spcAft>
                <a:spcPts val="200"/>
              </a:spcAft>
              <a:defRPr sz="1600" b="0">
                <a:solidFill>
                  <a:srgbClr val="242A37"/>
                </a:solidFill>
                <a:latin typeface="Malgun Gothic"/>
              </a:defRPr>
            </a:pPr>
            <a:r>
              <a:t>보고서·사진·메일 발송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343400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242A37"/>
                </a:solidFill>
                <a:latin typeface="Malgun Gothic"/>
              </a:defRPr>
            </a:pPr>
            <a:r>
              <a:t>대상 범위</a:t>
            </a:r>
          </a:p>
          <a:p>
            <a:pPr>
              <a:spcAft>
                <a:spcPts val="200"/>
              </a:spcAft>
              <a:defRPr sz="1600" b="0">
                <a:solidFill>
                  <a:srgbClr val="242A37"/>
                </a:solidFill>
                <a:latin typeface="Malgun Gothic"/>
              </a:defRPr>
            </a:pPr>
            <a:r>
              <a:t>관제: 관리 대시보드, 사업장/현장, 일정, 메일함, 실적/매출, 보고서, 사진첩, 콘텐츠</a:t>
            </a:r>
          </a:p>
          <a:p>
            <a:pPr>
              <a:spcAft>
                <a:spcPts val="200"/>
              </a:spcAft>
              <a:defRPr sz="1600" b="0">
                <a:solidFill>
                  <a:srgbClr val="242A37"/>
                </a:solidFill>
                <a:latin typeface="Malgun Gothic"/>
              </a:defRPr>
            </a:pPr>
            <a:r>
              <a:t>지도요원: 사업장/현장, 내 일정, 메일함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서비스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서비스 목적과 역할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서비스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사업장·현장 관리부터 보고서 작성, 발송, 현장 수행까지 하나의 흐름으로 연결합니다.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관제는 전체 운영을 관리하고, 지도요원은 배정된 현장 업무를 수행합니다.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권한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관제는 전체 현장과 전체 일정, 전체 매출을 다룹니다.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지도요원은 자신에게 배정된 현장과 일정만 확인·처리할 수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2775C"/>
                </a:solidFill>
                <a:latin typeface="Malgun Gothic"/>
              </a:defRPr>
            </a:pPr>
            <a:r>
              <a:t>관제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관리 대시보드와 실적/매출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관리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관리 중 현장 현황을 한눈에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교육/계측 자료 충족 상태와 미비 현장을 바로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발송 관리 대상, 우선 관리 분기 현황, 종료 임박 현장을 우선순위로 살핍니다.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실적 / 매출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지도요원 전체 실적과 매출을 요약 지표와 표로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기간 기준으로 성과를 비교하고 운영 판단에 활용합니다.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2775C"/>
                </a:solidFill>
                <a:latin typeface="Malgun Gothic"/>
              </a:defRPr>
            </a:pPr>
            <a:r>
              <a:t>관제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사업장/현장과 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사업장 / 현장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전체 사업장 정보와 현장 기본정보를 확인하고 수정합니다.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필요 시 지도요원을 현장에 배정하거나 배정을 변경합니다.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현장 상세 진입 후 보고서, 사진, 이력 화면으로 이동할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일정 / 캘린더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지도요원 전체 일정을 월 단위로 관리합니다.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현장, 담당자, 상태 기준으로 필터링해 일정 충돌이나 누락을 점검합니다.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필요한 경우 일정 상태를 수정하고 자료를 내려받을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2775C"/>
                </a:solidFill>
                <a:latin typeface="Malgun Gothic"/>
              </a:defRPr>
            </a:pPr>
            <a:r>
              <a:t>관제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메일함, 보고서, 사진첩, 콘텐츠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452628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메일함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321868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구글·네이버 메일 계정을 연동해 받은편지함/보낸편지함을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보고서를 선택해 메일 작성과 발송을 이어서 처리합니다.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00200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보고서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075688"/>
            <a:ext cx="321868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전체 보고서를 검색·검토·발송 관리합니다.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기술지도, 분기, 불량 사업장 관련 문서를 열고 상태를 확인합니다.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5" y="1600200"/>
            <a:ext cx="3474720" cy="452628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7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사진첩 / 콘텐츠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075688"/>
            <a:ext cx="321868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사진첩에서는 현장 회차별 사진을 업로드·조회·정리합니다.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콘텐츠에서는 보고서 작성에 쓰는 공통 자산을 관리합니다.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지도요원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사업장/현장 사용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접근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지도요원은 배정된 현장 목록만 확인할 수 있습니다.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배정되지 않은 현장 목록은 확인할 수 없습니다.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현장 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사업장과 현장의 기본 정보를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현장별로 기술지도 보고서, 분기 보고서, 불량 사업장, 사진첩 메뉴를 사용합니다.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업무 중 필요한 문서를 현장 단위로 작성하거나 이어서 수정합니다.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지도요원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내 일정과 메일함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내 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캘린더에서 배정된 현장 일정을 추가합니다.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선택한 일정의 방문일과 요일, 선택 사유를 수정할 수 있습니다.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월 단위 달력 보기와 목록 보기를 함께 사용할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메일함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메일 계정을 연동한 뒤 기술지도 보고서를 메일로 발송합니다.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수신자 주소를 확인하고 발송 이력과 스레드를 함께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2775C"/>
                </a:solidFill>
                <a:latin typeface="Malgun Gothic"/>
              </a:defRPr>
            </a:pPr>
            <a:r>
              <a:t>권한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관제와 지도요원의 차이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관제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전체 현장 조회와 수정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지도요원 배정 관리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전체 일정 관리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전체 매출 관리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전체 보고서/사진/콘텐츠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지도요원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배정된 현장만 조회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현장 단위 보고서 작성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내 일정 등록·수정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현장 사진 관리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기술지도 보고서 메일 발송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추천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실무 사용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49240" cy="448056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관제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1. 관리 대시보드로 우선 대응 현장을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2. 사업장/현장에서 정보 수정과 배정을 처리합니다.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3. 일정과 메일함, 보고서에서 후속 조치를 마무리합니다.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002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지도요원 흐름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2075688"/>
            <a:ext cx="5093208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1. 배정된 현장과 내 일정을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2. 현장 상세에서 보고서·사진 업무를 수행합니다.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3. 완료 후 메일함에서 기술지도 보고서를 발송합니다.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실화면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관제 관리 대시보드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6903720" cy="452628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65379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45552" y="162763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화면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2103120"/>
            <a:ext cx="340156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실데이터 기준으로 KPI 카드와 발송 관리 대상을 바로 확인할 수 있습니다.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운영 개요와 상태 지표 확인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지연 보고서 우선 점검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엑셀 내보내기와 새로고침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실화면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관제 사업장/현장 관리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6903720" cy="452628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adquar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65379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45552" y="162763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화면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2103120"/>
            <a:ext cx="340156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사업장과 현장을 한 구조로 묶어 검색하고 진입하는 화면입니다.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사업장 목록 탐색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현장별 진입 동선 제공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기본정보 수정과 연결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실화면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관제 메일함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6903720" cy="452628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il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65379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45552" y="162763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화면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2103120"/>
            <a:ext cx="340156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수신 메일, 보낸 메일, 메일 발송 동선을 한 화면에서 관리합니다.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받은편지함/보낸편지함 구분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메일 작성과 로그아웃 버튼 제공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보고서 발송 흐름과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37A7F"/>
                </a:solidFill>
                <a:latin typeface="Malgun Gothic"/>
              </a:defRPr>
            </a:pPr>
            <a:r>
              <a:t>화면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E2047"/>
                </a:solidFill>
                <a:latin typeface="Malgun Gothic"/>
              </a:defRPr>
            </a:pPr>
            <a:r>
              <a:t>지도요원 내 일정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0" cy="27432"/>
          </a:xfrm>
          <a:prstGeom prst="rect">
            <a:avLst/>
          </a:prstGeom>
          <a:solidFill>
            <a:srgbClr val="D6DBE4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6903720" cy="4526280"/>
          </a:xfrm>
          <a:prstGeom prst="roundRect">
            <a:avLst/>
          </a:prstGeom>
          <a:solidFill>
            <a:srgbClr val="F2EDE5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worker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65379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45552" y="1627632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E2047"/>
                </a:solidFill>
                <a:latin typeface="Malgun Gothic"/>
              </a:defRPr>
            </a:pPr>
            <a:r>
              <a:t>화면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2103120"/>
            <a:ext cx="340156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지도요원은 월간 일정과 미선택 회차를 같은 흐름에서 확인합니다.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달력 보기와 목록 보기 사용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배정 일정만 노출</a:t>
            </a:r>
          </a:p>
          <a:p>
            <a:pPr>
              <a:spcAft>
                <a:spcPts val="600"/>
              </a:spcAft>
              <a:defRPr sz="1500">
                <a:solidFill>
                  <a:srgbClr val="242A37"/>
                </a:solidFill>
                <a:latin typeface="Malgun Gothic"/>
              </a:defRPr>
            </a:pPr>
            <a:r>
              <a:t>방문일과 선택 사유 수정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47"/>
          </a:solidFill>
          <a:ln>
            <a:solidFill>
              <a:srgbClr val="0E2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사용 설명서 핵심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6126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Malgun Gothic"/>
              </a:defRPr>
            </a:pPr>
            <a:r>
              <a:t>관제는 전체 운영 현황과 전체 자원을 관리하는 역할입니다.</a:t>
            </a:r>
          </a:p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Malgun Gothic"/>
              </a:defRPr>
            </a:pPr>
            <a:r>
              <a:t>지도요원은 배정된 현장 중심으로 일정, 보고서, 사진, 메일 발송을 수행합니다.</a:t>
            </a:r>
          </a:p>
          <a:p>
            <a:pPr>
              <a:spcAft>
                <a:spcPts val="600"/>
              </a:spcAft>
              <a:defRPr sz="1900">
                <a:solidFill>
                  <a:srgbClr val="FFFFFF"/>
                </a:solidFill>
                <a:latin typeface="Malgun Gothic"/>
              </a:defRPr>
            </a:pPr>
            <a:r>
              <a:t>두 역할은 같은 데이터를 쓰지만 화면 권한과 접근 범위가 다릅니다.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097280"/>
            <a:ext cx="4023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37A7F"/>
                </a:solidFill>
                <a:latin typeface="Malgun Gothic"/>
              </a:defRPr>
            </a:pPr>
            <a:r>
              <a:t>권장 안내 문구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  <a:r>
              <a:t>관제는 전체 메뉴를 기준으로 설명하고,</a:t>
            </a:r>
          </a:p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  <a:r>
              <a:t>지도요원은 배정 현장 중심으로</a:t>
            </a:r>
          </a:p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  <a:r>
              <a:t>설명하면 이해가 빠릅니다.</a:t>
            </a:r>
          </a:p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</a:p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  <a:r>
              <a:t>초기 교육 시에는</a:t>
            </a:r>
          </a:p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  <a:r>
              <a:t>관리 대시보드 → 사업장/현장 → 일정 →</a:t>
            </a:r>
          </a:p>
          <a:p>
            <a:pPr>
              <a:spcAft>
                <a:spcPts val="200"/>
              </a:spcAft>
              <a:defRPr sz="1800" b="0">
                <a:solidFill>
                  <a:srgbClr val="242A37"/>
                </a:solidFill>
                <a:latin typeface="Malgun Gothic"/>
              </a:defRPr>
            </a:pPr>
            <a:r>
              <a:t>보고서/메일함 순서로 시연하는 것을 권장합니다.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