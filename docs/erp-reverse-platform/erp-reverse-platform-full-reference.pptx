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notesMasterIdLst>
    <p:notesMasterId r:id="rId4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notesMaster" Target="notesMasters/notesMaster1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108960" cy="6858000"/>
          </a:xfrm>
          <a:prstGeom prst="rect">
            <a:avLst/>
          </a:prstGeom>
          <a:solidFill>
            <a:srgbClr val="17374F"/>
          </a:solidFill>
          <a:ln w="12700">
            <a:solidFill>
              <a:srgbClr val="1737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79776" y="713232"/>
            <a:ext cx="438912" cy="5212080"/>
          </a:xfrm>
          <a:prstGeom prst="roundRect">
            <a:avLst>
              <a:gd name="adj" fmla="val 18750"/>
            </a:avLst>
          </a:prstGeom>
          <a:solidFill>
            <a:srgbClr val="BA6326"/>
          </a:solidFill>
          <a:ln w="12700">
            <a:solidFill>
              <a:srgbClr val="BA632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11880" y="896112"/>
            <a:ext cx="43891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ERP Reverse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Platform Full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Reference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39312" y="2148840"/>
            <a:ext cx="6400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개요 설명에 더해 docs/erp-reverse-platform 아래 모든 Markdown 문서를 문서별 장으로 정리한 reference deck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39312" y="2816352"/>
            <a:ext cx="2011680" cy="310896"/>
          </a:xfrm>
          <a:prstGeom prst="roundRect">
            <a:avLst>
              <a:gd name="adj" fmla="val 23529"/>
            </a:avLst>
          </a:prstGeom>
          <a:solidFill>
            <a:srgbClr val="F2E4D6"/>
          </a:solidFill>
          <a:ln w="12700">
            <a:solidFill>
              <a:srgbClr val="BA63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712464" y="2880360"/>
            <a:ext cx="18653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A63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overview + reference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815584" y="2816352"/>
            <a:ext cx="1828800" cy="310896"/>
          </a:xfrm>
          <a:prstGeom prst="roundRect">
            <a:avLst>
              <a:gd name="adj" fmla="val 23529"/>
            </a:avLst>
          </a:prstGeom>
          <a:solidFill>
            <a:srgbClr val="F2E4D6"/>
          </a:solidFill>
          <a:ln w="12700">
            <a:solidFill>
              <a:srgbClr val="BA63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88736" y="2880360"/>
            <a:ext cx="168249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A63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markdown docs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790688" y="2816352"/>
            <a:ext cx="1965960" cy="310896"/>
          </a:xfrm>
          <a:prstGeom prst="roundRect">
            <a:avLst>
              <a:gd name="adj" fmla="val 23529"/>
            </a:avLst>
          </a:prstGeom>
          <a:solidFill>
            <a:srgbClr val="F2E4D6"/>
          </a:solidFill>
          <a:ln w="12700">
            <a:solidFill>
              <a:srgbClr val="BA63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63840" y="2880360"/>
            <a:ext cx="18196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A63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auto-generated index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03504" y="6355080"/>
            <a:ext cx="10058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7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Generated from scripts/generateErpReversePlatformFullReferenceDeck.ts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149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Why Split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841248"/>
            <a:ext cx="9966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D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복구용 reverse와 재사용용 reverse는 목적이 달라서 같은 단위로 다루면 안 된다.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1325880"/>
            <a:ext cx="3154680" cy="2331720"/>
          </a:xfrm>
          <a:prstGeom prst="roundRect">
            <a:avLst>
              <a:gd name="adj" fmla="val 3137"/>
            </a:avLst>
          </a:prstGeom>
          <a:solidFill>
            <a:srgbClr val="FFFCF8"/>
          </a:solidFill>
          <a:ln w="12700">
            <a:solidFill>
              <a:srgbClr val="D8E1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53896"/>
            <a:ext cx="28254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Current-Product Recovery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728216"/>
            <a:ext cx="3008376" cy="1819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Top-level feature contract + recovery slice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현재 앱 회귀 방지와 faithful rebuild 담당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예: admin-overview-dashboard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질문: 지금 화면을 똑같이 어떻게 복원하나?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041648" y="1325880"/>
            <a:ext cx="3154680" cy="2331720"/>
          </a:xfrm>
          <a:prstGeom prst="roundRect">
            <a:avLst>
              <a:gd name="adj" fmla="val 3137"/>
            </a:avLst>
          </a:prstGeom>
          <a:solidFill>
            <a:srgbClr val="FFFCF8"/>
          </a:solidFill>
          <a:ln w="12700">
            <a:solidFill>
              <a:srgbClr val="D8E1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06240" y="1453896"/>
            <a:ext cx="28254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Reusable ERP Reverse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114800" y="1728216"/>
            <a:ext cx="3008376" cy="1819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Platform primitive + business module + pack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다른 산업 ERP로 옮길 capability 추출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예: operations-dashboard.queue-overview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질문: 어떤 capability를 재조립 가능한가?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424928" y="1325880"/>
            <a:ext cx="2514600" cy="2331720"/>
          </a:xfrm>
          <a:prstGeom prst="roundRect">
            <a:avLst>
              <a:gd name="adj" fmla="val 3137"/>
            </a:avLst>
          </a:prstGeom>
          <a:solidFill>
            <a:srgbClr val="FFFCF8"/>
          </a:solidFill>
          <a:ln w="12700">
            <a:solidFill>
              <a:srgbClr val="D8E1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89520" y="1453896"/>
            <a:ext cx="21854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It Matters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498080" y="1728216"/>
            <a:ext cx="2368296" cy="1819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화면명과 모듈명이 분리된다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API와 server도 capability 기준으로 묶인다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경로가 바뀌어도 module id는 유지된다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41248" y="4023360"/>
            <a:ext cx="9235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Recovery slice는 source evidence이고, reverse module은 cross-industry catalog 단위다.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이 분리가 있어야 no-code import처럼 capability 단위 재조립이 가능하다.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03504" y="6355080"/>
            <a:ext cx="10058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7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ERP Reverse Platform Full Reference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149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Full Structure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841248"/>
            <a:ext cx="9966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D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현재 저장소에서 어떤 파일이 어떤 역할을 가지는지 구조로 본다.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1280160"/>
            <a:ext cx="2331720" cy="2468880"/>
          </a:xfrm>
          <a:prstGeom prst="roundRect">
            <a:avLst>
              <a:gd name="adj" fmla="val 3137"/>
            </a:avLst>
          </a:prstGeom>
          <a:solidFill>
            <a:srgbClr val="FFFCF8"/>
          </a:solidFill>
          <a:ln w="12700">
            <a:solidFill>
              <a:srgbClr val="D8E1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08176"/>
            <a:ext cx="20025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Guardrails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682496"/>
            <a:ext cx="2185416" cy="1956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tests/client/contracts/*.ts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featureContractMetadata.json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docs/reverse-specs/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verify:aidlc / smoke / CI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0" y="1280160"/>
            <a:ext cx="2331720" cy="2468880"/>
          </a:xfrm>
          <a:prstGeom prst="roundRect">
            <a:avLst>
              <a:gd name="adj" fmla="val 3137"/>
            </a:avLst>
          </a:prstGeom>
          <a:solidFill>
            <a:srgbClr val="FFFCF8"/>
          </a:solidFill>
          <a:ln w="12700">
            <a:solidFill>
              <a:srgbClr val="D8E1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64992" y="1408176"/>
            <a:ext cx="20025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Reverse Platform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273552" y="1682496"/>
            <a:ext cx="2185416" cy="1956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docs/erp-reverse-platform/modules/*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adapters / industry-packs / compositions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provenance map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validate:erp-reverse-platform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742432" y="1280160"/>
            <a:ext cx="2331720" cy="2468880"/>
          </a:xfrm>
          <a:prstGeom prst="roundRect">
            <a:avLst>
              <a:gd name="adj" fmla="val 3137"/>
            </a:avLst>
          </a:prstGeom>
          <a:solidFill>
            <a:srgbClr val="FFFCF8"/>
          </a:solidFill>
          <a:ln w="12700">
            <a:solidFill>
              <a:srgbClr val="D8E1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07024" y="1408176"/>
            <a:ext cx="20025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Current Server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815584" y="1682496"/>
            <a:ext cx="2185416" cy="1956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app/api/safety/[...path]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app/api/admin/**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app/api/photos/**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app/api/documents/**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84464" y="1280160"/>
            <a:ext cx="1828800" cy="2468880"/>
          </a:xfrm>
          <a:prstGeom prst="roundRect">
            <a:avLst>
              <a:gd name="adj" fmla="val 4000"/>
            </a:avLst>
          </a:prstGeom>
          <a:solidFill>
            <a:srgbClr val="FFFCF8"/>
          </a:solidFill>
          <a:ln w="12700">
            <a:solidFill>
              <a:srgbClr val="D8E1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49056" y="1408176"/>
            <a:ext cx="14996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Local Server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57616" y="1682496"/>
            <a:ext cx="1682496" cy="1956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server/admin/**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server/photos/**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server/documents/**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scripts/probeSafetyApiLive.ts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04672" y="4096512"/>
            <a:ext cx="9189720" cy="1325880"/>
          </a:xfrm>
          <a:prstGeom prst="roundRect">
            <a:avLst>
              <a:gd name="adj" fmla="val 5517"/>
            </a:avLst>
          </a:prstGeom>
          <a:solidFill>
            <a:srgbClr val="FFFDFC"/>
          </a:solidFill>
          <a:ln w="12700">
            <a:solidFill>
              <a:srgbClr val="D8E1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1560" y="4498848"/>
            <a:ext cx="8686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3384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workflow: guarded file change -&gt; recovery slice -&gt; reverse module -&gt; API contract / server touchpoint / performance guardrail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03504" y="6355080"/>
            <a:ext cx="10058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7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ERP Reverse Platform Full Reference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149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Request Flow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841248"/>
            <a:ext cx="9966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D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브라우저에서 시작한 호출이 어디를 지나 현재 server 코드에 도착하는지 보여준다.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68096" y="1298448"/>
            <a:ext cx="9281160" cy="4498848"/>
          </a:xfrm>
          <a:prstGeom prst="roundRect">
            <a:avLst>
              <a:gd name="adj" fmla="val 1626"/>
            </a:avLst>
          </a:prstGeom>
          <a:solidFill>
            <a:srgbClr val="FFFDFC"/>
          </a:solidFill>
          <a:ln w="12700">
            <a:solidFill>
              <a:srgbClr val="D8E1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645920"/>
            <a:ext cx="8778240" cy="3337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384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browser feature / screen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3384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-&gt; feature hook / client api helper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3384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-&gt; Next app/api route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3384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-&gt; proxy route: /api/safety/* -&gt; external FastAPI /api/v1/*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3384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-&gt; local Next route: /api/admin/*, /api/photos/*, /api/documents/*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3384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-&gt; server/** helper or upstream ERP service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3384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-&gt; normalized response returns to the client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3384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-&gt; reverse module describes the stable capability boundary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32688" y="4983480"/>
            <a:ext cx="8686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proxy-backed ERP flows는 현재 저장소 밖의 FastAPI도 포함한다.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admin/photos/documents는 이 저장소 안의 Next route + server helper 비중이 더 크다.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03504" y="6355080"/>
            <a:ext cx="10058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7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ERP Reverse Platform Full Reference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149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Server Map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841248"/>
            <a:ext cx="9966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D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처음 볼 때 가장 자주 찾게 되는 server 진입점들을 기능군으로 묶는다.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2331720" cy="2057400"/>
          </a:xfrm>
          <a:prstGeom prst="roundRect">
            <a:avLst>
              <a:gd name="adj" fmla="val 3556"/>
            </a:avLst>
          </a:prstGeom>
          <a:solidFill>
            <a:srgbClr val="FFFCF8"/>
          </a:solidFill>
          <a:ln w="12700">
            <a:solidFill>
              <a:srgbClr val="D8E1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26464"/>
            <a:ext cx="20025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Proxy Entry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700784"/>
            <a:ext cx="2185416" cy="1545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app/api/safety/[...path]/route.ts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외부 FastAPI로 프록시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일부 admin cache invalidation 트리거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18688" y="1298448"/>
            <a:ext cx="2331720" cy="2057400"/>
          </a:xfrm>
          <a:prstGeom prst="roundRect">
            <a:avLst>
              <a:gd name="adj" fmla="val 3556"/>
            </a:avLst>
          </a:prstGeom>
          <a:solidFill>
            <a:srgbClr val="FFFCF8"/>
          </a:solidFill>
          <a:ln w="12700">
            <a:solidFill>
              <a:srgbClr val="D8E1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0" y="1426464"/>
            <a:ext cx="20025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Admin Dashboard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291840" y="1700784"/>
            <a:ext cx="2185416" cy="1545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app/api/admin/dashboard/**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server/admin/overviewRouteCache.ts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server/admin/analyticsSnapshot.ts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779008" y="1298448"/>
            <a:ext cx="2331720" cy="2057400"/>
          </a:xfrm>
          <a:prstGeom prst="roundRect">
            <a:avLst>
              <a:gd name="adj" fmla="val 3556"/>
            </a:avLst>
          </a:prstGeom>
          <a:solidFill>
            <a:srgbClr val="FFFCF8"/>
          </a:solidFill>
          <a:ln w="12700">
            <a:solidFill>
              <a:srgbClr val="D8E1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0" y="1426464"/>
            <a:ext cx="20025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Photos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852160" y="1700784"/>
            <a:ext cx="2185416" cy="1545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app/api/photos/**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server/photos/service.ts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server/photos/album.ts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339328" y="1298448"/>
            <a:ext cx="1828800" cy="2057400"/>
          </a:xfrm>
          <a:prstGeom prst="roundRect">
            <a:avLst>
              <a:gd name="adj" fmla="val 4000"/>
            </a:avLst>
          </a:prstGeom>
          <a:solidFill>
            <a:srgbClr val="FFFCF8"/>
          </a:solidFill>
          <a:ln w="12700">
            <a:solidFill>
              <a:srgbClr val="D8E1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03920" y="1426464"/>
            <a:ext cx="14996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Documents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412480" y="1700784"/>
            <a:ext cx="1682496" cy="1545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app/api/documents/quarterly/**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server/documents/quarterly/requestResolver.ts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server/documents/quarterly/hwpx.ts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41248" y="3886200"/>
            <a:ext cx="89611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overview/analytics는 cache와 fallback merge가 핵심이다.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photos는 context preservation과 bulk action semantics가 핵심이다.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documents는 save-before-export와 fallback reuse가 핵심이다.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03504" y="6355080"/>
            <a:ext cx="10058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7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ERP Reverse Platform Full Reference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149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Module Anatomy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841248"/>
            <a:ext cx="9966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D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published module은 이제 개념 설명이 아니라 API/server/performance 정보까지 가진다.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2743200" cy="2331720"/>
          </a:xfrm>
          <a:prstGeom prst="roundRect">
            <a:avLst>
              <a:gd name="adj" fmla="val 3137"/>
            </a:avLst>
          </a:prstGeom>
          <a:solidFill>
            <a:srgbClr val="FFFCF8"/>
          </a:solidFill>
          <a:ln w="12700">
            <a:solidFill>
              <a:srgbClr val="D8E1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26464"/>
            <a:ext cx="24140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module.md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700784"/>
            <a:ext cx="2596896" cy="1819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 / State Model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Contracts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Server Touchpoints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Performance Guardrails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Invariants / Industry Variability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30168" y="1298448"/>
            <a:ext cx="2743200" cy="2331720"/>
          </a:xfrm>
          <a:prstGeom prst="roundRect">
            <a:avLst>
              <a:gd name="adj" fmla="val 3137"/>
            </a:avLst>
          </a:prstGeom>
          <a:solidFill>
            <a:srgbClr val="FFFCF8"/>
          </a:solidFill>
          <a:ln w="12700">
            <a:solidFill>
              <a:srgbClr val="D8E1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94760" y="1426464"/>
            <a:ext cx="24140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module.manifest.json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703320" y="1700784"/>
            <a:ext cx="2596896" cy="1819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sourceSlices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apiContracts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serverTouchpoints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performanceGuardrails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tenant / industry surfaces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601968" y="1298448"/>
            <a:ext cx="3246120" cy="2331720"/>
          </a:xfrm>
          <a:prstGeom prst="roundRect">
            <a:avLst>
              <a:gd name="adj" fmla="val 3137"/>
            </a:avLst>
          </a:prstGeom>
          <a:solidFill>
            <a:srgbClr val="FFFCF8"/>
          </a:solidFill>
          <a:ln w="12700">
            <a:solidFill>
              <a:srgbClr val="D8E1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66560" y="1426464"/>
            <a:ext cx="29169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Current Starter Stats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675120" y="1700784"/>
            <a:ext cx="3099816" cy="1819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published modules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 API contracts mapped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 performance guardrails mapped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validator fails if these are missing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86384" y="4005072"/>
            <a:ext cx="9098280" cy="1207008"/>
          </a:xfrm>
          <a:prstGeom prst="roundRect">
            <a:avLst>
              <a:gd name="adj" fmla="val 6061"/>
            </a:avLst>
          </a:prstGeom>
          <a:solidFill>
            <a:srgbClr val="F2E4D6"/>
          </a:solidFill>
          <a:ln w="12700">
            <a:solidFill>
              <a:srgbClr val="BA63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24128" y="4407408"/>
            <a:ext cx="8641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A6326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practical rule: capability -&gt; endpoint -&gt; request/response -&gt; server file -&gt; performance budget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03504" y="6355080"/>
            <a:ext cx="10058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7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ERP Reverse Platform Full Reference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149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6. Example Mapping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841248"/>
            <a:ext cx="9966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D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현재 앱 기능이 reusable module로 어떻게 올라가는지 대표 사례로 본다.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2971800" cy="2880360"/>
          </a:xfrm>
          <a:prstGeom prst="roundRect">
            <a:avLst>
              <a:gd name="adj" fmla="val 2540"/>
            </a:avLst>
          </a:prstGeom>
          <a:solidFill>
            <a:srgbClr val="FFFCF8"/>
          </a:solidFill>
          <a:ln w="12700">
            <a:solidFill>
              <a:srgbClr val="D8E1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26464"/>
            <a:ext cx="26426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Overview Dashboard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700784"/>
            <a:ext cx="2825496" cy="2368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recovery slice: admin-overview-dashboard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module: operations-dashboard.queue-overview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API: GET /api/admin/dashboard/overview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server: overview route + route cache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budget: 7000ms / 2500000 bytes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813048" y="1298448"/>
            <a:ext cx="2971800" cy="2880360"/>
          </a:xfrm>
          <a:prstGeom prst="roundRect">
            <a:avLst>
              <a:gd name="adj" fmla="val 2540"/>
            </a:avLst>
          </a:prstGeom>
          <a:solidFill>
            <a:srgbClr val="FFFCF8"/>
          </a:solidFill>
          <a:ln w="12700">
            <a:solidFill>
              <a:srgbClr val="D8E1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77640" y="1426464"/>
            <a:ext cx="26426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Quarterly Source Sync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886200" y="1700784"/>
            <a:ext cx="2825496" cy="2368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recovery slice: quarterly-editor-source-sync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module: periodic-report.source-sync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API: report by key + quarterly summary seed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server: /api/safety proxy -&gt; FastAPI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budget: 2500ms lookup / 5000ms seed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967728" y="1298448"/>
            <a:ext cx="2880360" cy="2880360"/>
          </a:xfrm>
          <a:prstGeom prst="roundRect">
            <a:avLst>
              <a:gd name="adj" fmla="val 2540"/>
            </a:avLst>
          </a:prstGeom>
          <a:solidFill>
            <a:srgbClr val="FFFCF8"/>
          </a:solidFill>
          <a:ln w="12700">
            <a:solidFill>
              <a:srgbClr val="D8E1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0" y="1426464"/>
            <a:ext cx="25511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Photo Review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40880" y="1700784"/>
            <a:ext cx="2734056" cy="2368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recovery slice: admin-photo-admin-flow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module: asset-review.photo-workbench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API: /api/photos + upload + download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server: photos route + service + album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budget: 3000ms list / 45000ms upload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41248" y="452628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중요한 점은 현재 화면 이름이 아니라 capability 이름으로 올라간다는 점이다.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현재 route/file 구조가 바뀌어도 module id와 expected behavior는 계속 유지된다.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03504" y="6355080"/>
            <a:ext cx="10058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7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ERP Reverse Platform Full Reference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149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7. Sustainability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841248"/>
            <a:ext cx="9966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D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지속가능성은 validator, provenance, live budget probe가 같이 돌 때 생긴다.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2743200" cy="2377440"/>
          </a:xfrm>
          <a:prstGeom prst="roundRect">
            <a:avLst>
              <a:gd name="adj" fmla="val 3077"/>
            </a:avLst>
          </a:prstGeom>
          <a:solidFill>
            <a:srgbClr val="FFFCF8"/>
          </a:solidFill>
          <a:ln w="12700">
            <a:solidFill>
              <a:srgbClr val="D8E1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26464"/>
            <a:ext cx="24140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validate:recovery-slices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700784"/>
            <a:ext cx="2596896" cy="1865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guarded file -&gt; recovery slice mapping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reverse spec header / inventory check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current-product recovery freshness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30168" y="1298448"/>
            <a:ext cx="2743200" cy="2377440"/>
          </a:xfrm>
          <a:prstGeom prst="roundRect">
            <a:avLst>
              <a:gd name="adj" fmla="val 3077"/>
            </a:avLst>
          </a:prstGeom>
          <a:solidFill>
            <a:srgbClr val="FFFCF8"/>
          </a:solidFill>
          <a:ln w="12700">
            <a:solidFill>
              <a:srgbClr val="D8E1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94760" y="1426464"/>
            <a:ext cx="24140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validate:erp-reverse-platform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703320" y="1700784"/>
            <a:ext cx="2596896" cy="1865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module/doc pair completeness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API/server/performance coverage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provenance links currently tracked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601968" y="1298448"/>
            <a:ext cx="3246120" cy="2377440"/>
          </a:xfrm>
          <a:prstGeom prst="roundRect">
            <a:avLst>
              <a:gd name="adj" fmla="val 3077"/>
            </a:avLst>
          </a:prstGeom>
          <a:solidFill>
            <a:srgbClr val="FFFCF8"/>
          </a:solidFill>
          <a:ln w="12700">
            <a:solidFill>
              <a:srgbClr val="D8E1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66560" y="1426464"/>
            <a:ext cx="29169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verify:api-live-budgets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675120" y="1700784"/>
            <a:ext cx="3099816" cy="1865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대표 live path latency / bytes probe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 overview / analytics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Site reports / report by key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budget 초과 시 운영 경고 가능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4672" y="3968496"/>
            <a:ext cx="9098280" cy="1371600"/>
          </a:xfrm>
          <a:prstGeom prst="roundRect">
            <a:avLst>
              <a:gd name="adj" fmla="val 5333"/>
            </a:avLst>
          </a:prstGeom>
          <a:solidFill>
            <a:srgbClr val="FFFDFC"/>
          </a:solidFill>
          <a:ln w="12700">
            <a:solidFill>
              <a:srgbClr val="D8E1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4279392"/>
            <a:ext cx="8549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3384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guarded source change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3384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-&gt; recovery slice update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3384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-&gt; reusable module update if capability changed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3384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-&gt; provenance or API/server/performance metadata refresh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3384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-&gt; validators + smoke + optional live probe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03504" y="6355080"/>
            <a:ext cx="10058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7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ERP Reverse Platform Full Reference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149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8. How To Use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841248"/>
            <a:ext cx="9966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D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처음 보는 사람이 어디서 시작하면 되는지와, 변경 시 무엇을 업데이트해야 하는지 정리한다.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4572000" cy="2606040"/>
          </a:xfrm>
          <a:prstGeom prst="roundRect">
            <a:avLst>
              <a:gd name="adj" fmla="val 2807"/>
            </a:avLst>
          </a:prstGeom>
          <a:solidFill>
            <a:srgbClr val="FFFCF8"/>
          </a:solidFill>
          <a:ln w="12700">
            <a:solidFill>
              <a:srgbClr val="D8E1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26464"/>
            <a:ext cx="42428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Reader Path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700784"/>
            <a:ext cx="4425696" cy="2093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guardrails overview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reverse-spec README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reverse-and-server-introduction.md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원하는 module.md + module.manifest.json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대응 app/api/** 와 server/** 파일 확인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40680" y="1298448"/>
            <a:ext cx="4434840" cy="2606040"/>
          </a:xfrm>
          <a:prstGeom prst="roundRect">
            <a:avLst>
              <a:gd name="adj" fmla="val 2807"/>
            </a:avLst>
          </a:prstGeom>
          <a:solidFill>
            <a:srgbClr val="FFFCF8"/>
          </a:solidFill>
          <a:ln w="12700">
            <a:solidFill>
              <a:srgbClr val="D8E1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05272" y="1426464"/>
            <a:ext cx="41056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Update Rule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513832" y="1700784"/>
            <a:ext cx="4288536" cy="2093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현재 화면만 바뀌면 recovery spec 갱신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재사용 capability도 바뀌면 module doc + manifest 갱신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API가 바뀌면 API Contracts / Server Touchpoints / Performance Guardrails 갱신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그 다음 validators 재실행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59536" y="4370832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짧은 발표용: erp-reverse-platform-introduction.pptx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문서별 reference용: erp-reverse-platform-full-reference.pptx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시작 문서: docs/erp-reverse-platform/reverse-and-server-introduction.md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03504" y="6355080"/>
            <a:ext cx="10058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7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ERP Reverse Platform Full Reference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149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9. ERP Reverse Platform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841248"/>
            <a:ext cx="9966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D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docs/erp-reverse-platform/README.md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1097280"/>
            <a:ext cx="1645920" cy="310896"/>
          </a:xfrm>
          <a:prstGeom prst="roundRect">
            <a:avLst>
              <a:gd name="adj" fmla="val 23529"/>
            </a:avLst>
          </a:prstGeom>
          <a:solidFill>
            <a:srgbClr val="F2E4D6"/>
          </a:solidFill>
          <a:ln w="12700">
            <a:solidFill>
              <a:srgbClr val="1637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161288"/>
            <a:ext cx="14996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37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Overview Doc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58368" y="1508760"/>
            <a:ext cx="2926080" cy="1920240"/>
          </a:xfrm>
          <a:prstGeom prst="roundRect">
            <a:avLst>
              <a:gd name="adj" fmla="val 3810"/>
            </a:avLst>
          </a:prstGeom>
          <a:solidFill>
            <a:srgbClr val="FFFCF8"/>
          </a:solidFill>
          <a:ln w="12700">
            <a:solidFill>
              <a:srgbClr val="1637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636776"/>
            <a:ext cx="25968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It Is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911096"/>
            <a:ext cx="2779776" cy="1408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folder is the reusable ERP reverse layer.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794760" y="1508760"/>
            <a:ext cx="2743200" cy="1920240"/>
          </a:xfrm>
          <a:prstGeom prst="roundRect">
            <a:avLst>
              <a:gd name="adj" fmla="val 3810"/>
            </a:avLst>
          </a:prstGeom>
          <a:solidFill>
            <a:srgbClr val="FFFCF8"/>
          </a:solidFill>
          <a:ln w="12700">
            <a:solidFill>
              <a:srgbClr val="1637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59352" y="1636776"/>
            <a:ext cx="24140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It Matters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867912" y="1911096"/>
            <a:ext cx="2596896" cy="1408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처음 진입하는 사람이 전체 구조를 빠르게 잡을 수 있다.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다른 문서를 읽기 전에 기준 용어와 운영 원칙을 맞춘다.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748272" y="1508760"/>
            <a:ext cx="3127248" cy="1920240"/>
          </a:xfrm>
          <a:prstGeom prst="roundRect">
            <a:avLst>
              <a:gd name="adj" fmla="val 3810"/>
            </a:avLst>
          </a:prstGeom>
          <a:solidFill>
            <a:srgbClr val="FFFCF8"/>
          </a:solidFill>
          <a:ln w="12700">
            <a:solidFill>
              <a:srgbClr val="16374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12864" y="1636776"/>
            <a:ext cx="27980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When To Open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821424" y="1911096"/>
            <a:ext cx="2980944" cy="1408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어떤 문서부터 읽어야 할지 모를 때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가드레일과 reusable reverse의 차이를 다시 확인할 때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58368" y="3675888"/>
            <a:ext cx="3749040" cy="2011680"/>
          </a:xfrm>
          <a:prstGeom prst="roundRect">
            <a:avLst>
              <a:gd name="adj" fmla="val 3636"/>
            </a:avLst>
          </a:prstGeom>
          <a:solidFill>
            <a:srgbClr val="FFFCF8"/>
          </a:solidFill>
          <a:ln w="12700">
            <a:solidFill>
              <a:srgbClr val="16374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803904"/>
            <a:ext cx="34198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Sections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31520" y="4078224"/>
            <a:ext cx="3602736" cy="1499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Layer Model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Directory Layout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Operating Rules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Authoring Flow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17720" y="3675888"/>
            <a:ext cx="5257800" cy="2011680"/>
          </a:xfrm>
          <a:prstGeom prst="roundRect">
            <a:avLst>
              <a:gd name="adj" fmla="val 3636"/>
            </a:avLst>
          </a:prstGeom>
          <a:solidFill>
            <a:srgbClr val="FFFCF8"/>
          </a:solidFill>
          <a:ln w="12700">
            <a:solidFill>
              <a:srgbClr val="16374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82312" y="3803904"/>
            <a:ext cx="49286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Connected Artifacts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690872" y="4078224"/>
            <a:ext cx="5111496" cy="1499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docs/erp-reverse-platform/reverse-and-server-introduction.md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docs/erp-reverse-platform/module-catalog.md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scripts/validateErpReversePlatform.ts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03504" y="6355080"/>
            <a:ext cx="10058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7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ERP Reverse Platform Full Reference | docs/erp-reverse-platform/README.md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149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10. ERP Reverse + Server Introduction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841248"/>
            <a:ext cx="9966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D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docs/erp-reverse-platform/reverse-and-server-introduction.md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1097280"/>
            <a:ext cx="1645920" cy="310896"/>
          </a:xfrm>
          <a:prstGeom prst="roundRect">
            <a:avLst>
              <a:gd name="adj" fmla="val 23529"/>
            </a:avLst>
          </a:prstGeom>
          <a:solidFill>
            <a:srgbClr val="F2E4D6"/>
          </a:solidFill>
          <a:ln w="12700">
            <a:solidFill>
              <a:srgbClr val="1637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161288"/>
            <a:ext cx="14996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37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Overview Doc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58368" y="1508760"/>
            <a:ext cx="2926080" cy="1920240"/>
          </a:xfrm>
          <a:prstGeom prst="roundRect">
            <a:avLst>
              <a:gd name="adj" fmla="val 3810"/>
            </a:avLst>
          </a:prstGeom>
          <a:solidFill>
            <a:srgbClr val="FFFCF8"/>
          </a:solidFill>
          <a:ln w="12700">
            <a:solidFill>
              <a:srgbClr val="1637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636776"/>
            <a:ext cx="25968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It Is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911096"/>
            <a:ext cx="2779776" cy="1408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document explains the reusable ERP reverse layer together with the current server/API structure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794760" y="1508760"/>
            <a:ext cx="2743200" cy="1920240"/>
          </a:xfrm>
          <a:prstGeom prst="roundRect">
            <a:avLst>
              <a:gd name="adj" fmla="val 3810"/>
            </a:avLst>
          </a:prstGeom>
          <a:solidFill>
            <a:srgbClr val="FFFCF8"/>
          </a:solidFill>
          <a:ln w="12700">
            <a:solidFill>
              <a:srgbClr val="1637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59352" y="1636776"/>
            <a:ext cx="24140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It Matters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867912" y="1911096"/>
            <a:ext cx="2596896" cy="1408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처음 진입하는 사람이 전체 구조를 빠르게 잡을 수 있다.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다른 문서를 읽기 전에 기준 용어와 운영 원칙을 맞춘다.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748272" y="1508760"/>
            <a:ext cx="3127248" cy="1920240"/>
          </a:xfrm>
          <a:prstGeom prst="roundRect">
            <a:avLst>
              <a:gd name="adj" fmla="val 3810"/>
            </a:avLst>
          </a:prstGeom>
          <a:solidFill>
            <a:srgbClr val="FFFCF8"/>
          </a:solidFill>
          <a:ln w="12700">
            <a:solidFill>
              <a:srgbClr val="16374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12864" y="1636776"/>
            <a:ext cx="27980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When To Open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821424" y="1911096"/>
            <a:ext cx="2980944" cy="1408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어떤 문서부터 읽어야 할지 모를 때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가드레일과 reusable reverse의 차이를 다시 확인할 때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58368" y="3675888"/>
            <a:ext cx="3749040" cy="2011680"/>
          </a:xfrm>
          <a:prstGeom prst="roundRect">
            <a:avLst>
              <a:gd name="adj" fmla="val 3636"/>
            </a:avLst>
          </a:prstGeom>
          <a:solidFill>
            <a:srgbClr val="FFFCF8"/>
          </a:solidFill>
          <a:ln w="12700">
            <a:solidFill>
              <a:srgbClr val="16374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803904"/>
            <a:ext cx="34198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Sections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31520" y="4078224"/>
            <a:ext cx="3602736" cy="1499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One-Line Summary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This In Order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Two Reverse Layers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Request Flow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Server File Guide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17720" y="3675888"/>
            <a:ext cx="5257800" cy="2011680"/>
          </a:xfrm>
          <a:prstGeom prst="roundRect">
            <a:avLst>
              <a:gd name="adj" fmla="val 3636"/>
            </a:avLst>
          </a:prstGeom>
          <a:solidFill>
            <a:srgbClr val="FFFCF8"/>
          </a:solidFill>
          <a:ln w="12700">
            <a:solidFill>
              <a:srgbClr val="16374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82312" y="3803904"/>
            <a:ext cx="49286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Connected Artifacts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690872" y="4078224"/>
            <a:ext cx="5111496" cy="1499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docs/guardrails/aidlc-guardrails-overview.md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docs/reverse-specs/README.md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docs/erp-reverse-platform/README.md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docs/current-system-architecture.md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03504" y="6355080"/>
            <a:ext cx="10058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7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ERP Reverse Platform Full Reference | docs/erp-reverse-platform/reverse-and-server-introduction.md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149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11. ERP Reverse + Server Introduction Deep Dive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841248"/>
            <a:ext cx="9966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D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docs/erp-reverse-platform/reverse-and-server-introduction.md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1097280"/>
            <a:ext cx="1783080" cy="310896"/>
          </a:xfrm>
          <a:prstGeom prst="roundRect">
            <a:avLst>
              <a:gd name="adj" fmla="val 23529"/>
            </a:avLst>
          </a:prstGeom>
          <a:solidFill>
            <a:srgbClr val="F2E4D6"/>
          </a:solidFill>
          <a:ln w="12700">
            <a:solidFill>
              <a:srgbClr val="1637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161288"/>
            <a:ext cx="16367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37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Overview Deep Dive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58368" y="1481328"/>
            <a:ext cx="2971800" cy="3611880"/>
          </a:xfrm>
          <a:prstGeom prst="roundRect">
            <a:avLst>
              <a:gd name="adj" fmla="val 2462"/>
            </a:avLst>
          </a:prstGeom>
          <a:solidFill>
            <a:srgbClr val="FFFCF8"/>
          </a:solidFill>
          <a:ln w="12700">
            <a:solidFill>
              <a:srgbClr val="1637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609344"/>
            <a:ext cx="26426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 Questions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883664"/>
            <a:ext cx="2825496" cy="3099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각 reverse artifact는 무엇을 위한 문서인가?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브라우저 호출이 현재 server까지 어떻게 도착하는가?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contract와 budget은 어디서 보나?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코드 변경 시 어떤 문서를 같이 갱신해야 하나?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840480" y="1481328"/>
            <a:ext cx="2834640" cy="3611880"/>
          </a:xfrm>
          <a:prstGeom prst="roundRect">
            <a:avLst>
              <a:gd name="adj" fmla="val 2581"/>
            </a:avLst>
          </a:prstGeom>
          <a:solidFill>
            <a:srgbClr val="FFFCF8"/>
          </a:solidFill>
          <a:ln w="12700">
            <a:solidFill>
              <a:srgbClr val="1637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05072" y="1609344"/>
            <a:ext cx="25054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Server Entry Guide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913632" y="1883664"/>
            <a:ext cx="2688336" cy="3099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app/api/safety/[...path]/route.ts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app/api/admin/dashboard/**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app/api/photos/**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app/api/documents/quarterly/**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server/** helpers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76288" y="1481328"/>
            <a:ext cx="2999232" cy="3611880"/>
          </a:xfrm>
          <a:prstGeom prst="roundRect">
            <a:avLst>
              <a:gd name="adj" fmla="val 2439"/>
            </a:avLst>
          </a:prstGeom>
          <a:solidFill>
            <a:srgbClr val="FFFCF8"/>
          </a:solidFill>
          <a:ln w="12700">
            <a:solidFill>
              <a:srgbClr val="16374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40880" y="1609344"/>
            <a:ext cx="26700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Operational Anchors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949440" y="1883664"/>
            <a:ext cx="2852928" cy="3099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scripts/probeSafetyApiLive.ts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apiContracts / serverTouchpoints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performanceGuardrails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update rule for docs and manifests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03504" y="6355080"/>
            <a:ext cx="10058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7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ERP Reverse Platform Full Reference | docs/erp-reverse-platform/reverse-and-server-introduction.md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149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12. ERP Reverse Module Catalog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841248"/>
            <a:ext cx="9966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D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docs/erp-reverse-platform/module-catalog.md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1097280"/>
            <a:ext cx="1645920" cy="310896"/>
          </a:xfrm>
          <a:prstGeom prst="roundRect">
            <a:avLst>
              <a:gd name="adj" fmla="val 23529"/>
            </a:avLst>
          </a:prstGeom>
          <a:solidFill>
            <a:srgbClr val="F2E4D6"/>
          </a:solidFill>
          <a:ln w="12700">
            <a:solidFill>
              <a:srgbClr val="1637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161288"/>
            <a:ext cx="14996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37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Overview Doc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58368" y="1508760"/>
            <a:ext cx="2926080" cy="1920240"/>
          </a:xfrm>
          <a:prstGeom prst="roundRect">
            <a:avLst>
              <a:gd name="adj" fmla="val 3810"/>
            </a:avLst>
          </a:prstGeom>
          <a:solidFill>
            <a:srgbClr val="FFFCF8"/>
          </a:solidFill>
          <a:ln w="12700">
            <a:solidFill>
              <a:srgbClr val="1637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636776"/>
            <a:ext cx="25968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It Is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911096"/>
            <a:ext cx="2779776" cy="1408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inventory tracks the reusable ERP reverse platform separately from the recovery-slice inventory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794760" y="1508760"/>
            <a:ext cx="2743200" cy="1920240"/>
          </a:xfrm>
          <a:prstGeom prst="roundRect">
            <a:avLst>
              <a:gd name="adj" fmla="val 3810"/>
            </a:avLst>
          </a:prstGeom>
          <a:solidFill>
            <a:srgbClr val="FFFCF8"/>
          </a:solidFill>
          <a:ln w="12700">
            <a:solidFill>
              <a:srgbClr val="1637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59352" y="1636776"/>
            <a:ext cx="24140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It Matters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867912" y="1911096"/>
            <a:ext cx="2596896" cy="1408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처음 진입하는 사람이 전체 구조를 빠르게 잡을 수 있다.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다른 문서를 읽기 전에 기준 용어와 운영 원칙을 맞춘다.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748272" y="1508760"/>
            <a:ext cx="3127248" cy="1920240"/>
          </a:xfrm>
          <a:prstGeom prst="roundRect">
            <a:avLst>
              <a:gd name="adj" fmla="val 3810"/>
            </a:avLst>
          </a:prstGeom>
          <a:solidFill>
            <a:srgbClr val="FFFCF8"/>
          </a:solidFill>
          <a:ln w="12700">
            <a:solidFill>
              <a:srgbClr val="16374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12864" y="1636776"/>
            <a:ext cx="27980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When To Open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821424" y="1911096"/>
            <a:ext cx="2980944" cy="1408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어떤 문서부터 읽어야 할지 모를 때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가드레일과 reusable reverse의 차이를 다시 확인할 때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58368" y="3675888"/>
            <a:ext cx="3749040" cy="2011680"/>
          </a:xfrm>
          <a:prstGeom prst="roundRect">
            <a:avLst>
              <a:gd name="adj" fmla="val 3636"/>
            </a:avLst>
          </a:prstGeom>
          <a:solidFill>
            <a:srgbClr val="FFFCF8"/>
          </a:solidFill>
          <a:ln w="12700">
            <a:solidFill>
              <a:srgbClr val="16374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803904"/>
            <a:ext cx="34198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Sections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31520" y="4078224"/>
            <a:ext cx="3602736" cy="1499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Platform Primitives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Modules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Adapters, Packs, and Compositions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Policy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17720" y="3675888"/>
            <a:ext cx="5257800" cy="2011680"/>
          </a:xfrm>
          <a:prstGeom prst="roundRect">
            <a:avLst>
              <a:gd name="adj" fmla="val 3636"/>
            </a:avLst>
          </a:prstGeom>
          <a:solidFill>
            <a:srgbClr val="FFFCF8"/>
          </a:solidFill>
          <a:ln w="12700">
            <a:solidFill>
              <a:srgbClr val="16374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82312" y="3803904"/>
            <a:ext cx="49286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Connected Artifacts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690872" y="4078224"/>
            <a:ext cx="5111496" cy="1499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(none)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03504" y="6355080"/>
            <a:ext cx="10058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7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ERP Reverse Platform Full Reference | docs/erp-reverse-platform/module-catalog.md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149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13. Reverse Module Template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841248"/>
            <a:ext cx="9966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D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docs/erp-reverse-platform/module-template.md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1097280"/>
            <a:ext cx="1645920" cy="310896"/>
          </a:xfrm>
          <a:prstGeom prst="roundRect">
            <a:avLst>
              <a:gd name="adj" fmla="val 23529"/>
            </a:avLst>
          </a:prstGeom>
          <a:solidFill>
            <a:srgbClr val="F2E4D6"/>
          </a:solidFill>
          <a:ln w="12700">
            <a:solidFill>
              <a:srgbClr val="6F6B4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161288"/>
            <a:ext cx="14996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F6B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Template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58368" y="1508760"/>
            <a:ext cx="2926080" cy="1920240"/>
          </a:xfrm>
          <a:prstGeom prst="roundRect">
            <a:avLst>
              <a:gd name="adj" fmla="val 3810"/>
            </a:avLst>
          </a:prstGeom>
          <a:solidFill>
            <a:srgbClr val="FFFCF8"/>
          </a:solidFill>
          <a:ln w="12700">
            <a:solidFill>
              <a:srgbClr val="6F6B4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636776"/>
            <a:ext cx="25968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It Is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911096"/>
            <a:ext cx="2779776" cy="1408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reusable business capability does this module provide?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794760" y="1508760"/>
            <a:ext cx="2743200" cy="1920240"/>
          </a:xfrm>
          <a:prstGeom prst="roundRect">
            <a:avLst>
              <a:gd name="adj" fmla="val 3810"/>
            </a:avLst>
          </a:prstGeom>
          <a:solidFill>
            <a:srgbClr val="FFFCF8"/>
          </a:solidFill>
          <a:ln w="12700">
            <a:solidFill>
              <a:srgbClr val="6F6B4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59352" y="1636776"/>
            <a:ext cx="24140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It Matters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867912" y="1911096"/>
            <a:ext cx="2596896" cy="1408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새 문서 추가 시 구조를 통일한다.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API, server, performance 같은 필수 섹션 누락을 줄인다.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748272" y="1508760"/>
            <a:ext cx="3127248" cy="1920240"/>
          </a:xfrm>
          <a:prstGeom prst="roundRect">
            <a:avLst>
              <a:gd name="adj" fmla="val 3810"/>
            </a:avLst>
          </a:prstGeom>
          <a:solidFill>
            <a:srgbClr val="FFFCF8"/>
          </a:solidFill>
          <a:ln w="12700">
            <a:solidFill>
              <a:srgbClr val="6F6B4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12864" y="1636776"/>
            <a:ext cx="27980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When To Open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821424" y="1911096"/>
            <a:ext cx="2980944" cy="1408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새 module / adapter / pack / composition 문서를 만들 때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기존 문서를 표준 포맷으로 정리할 때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58368" y="3675888"/>
            <a:ext cx="3749040" cy="2011680"/>
          </a:xfrm>
          <a:prstGeom prst="roundRect">
            <a:avLst>
              <a:gd name="adj" fmla="val 3636"/>
            </a:avLst>
          </a:prstGeom>
          <a:solidFill>
            <a:srgbClr val="FFFCF8"/>
          </a:solidFill>
          <a:ln w="12700">
            <a:solidFill>
              <a:srgbClr val="6F6B4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803904"/>
            <a:ext cx="34198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Sections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31520" y="4078224"/>
            <a:ext cx="3602736" cy="1499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Roles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Entry Conditions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 Model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Journeys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Contracts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17720" y="3675888"/>
            <a:ext cx="5257800" cy="2011680"/>
          </a:xfrm>
          <a:prstGeom prst="roundRect">
            <a:avLst>
              <a:gd name="adj" fmla="val 3636"/>
            </a:avLst>
          </a:prstGeom>
          <a:solidFill>
            <a:srgbClr val="FFFCF8"/>
          </a:solidFill>
          <a:ln w="12700">
            <a:solidFill>
              <a:srgbClr val="6F6B4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82312" y="3803904"/>
            <a:ext cx="49286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Connected Artifacts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690872" y="4078224"/>
            <a:ext cx="5111496" cy="1499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(none)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03504" y="6355080"/>
            <a:ext cx="10058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7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ERP Reverse Platform Full Reference | docs/erp-reverse-platform/module-template.md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149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14. Reverse Adapter Template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841248"/>
            <a:ext cx="9966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D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docs/erp-reverse-platform/adapter-template.md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1097280"/>
            <a:ext cx="1645920" cy="310896"/>
          </a:xfrm>
          <a:prstGeom prst="roundRect">
            <a:avLst>
              <a:gd name="adj" fmla="val 23529"/>
            </a:avLst>
          </a:prstGeom>
          <a:solidFill>
            <a:srgbClr val="F2E4D6"/>
          </a:solidFill>
          <a:ln w="12700">
            <a:solidFill>
              <a:srgbClr val="6F6B4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161288"/>
            <a:ext cx="14996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F6B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Template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58368" y="1508760"/>
            <a:ext cx="2926080" cy="1920240"/>
          </a:xfrm>
          <a:prstGeom prst="roundRect">
            <a:avLst>
              <a:gd name="adj" fmla="val 3810"/>
            </a:avLst>
          </a:prstGeom>
          <a:solidFill>
            <a:srgbClr val="FFFCF8"/>
          </a:solidFill>
          <a:ln w="12700">
            <a:solidFill>
              <a:srgbClr val="6F6B4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636776"/>
            <a:ext cx="25968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It Is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911096"/>
            <a:ext cx="2779776" cy="1408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external system or industry rule boundary does this adapter normalize?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794760" y="1508760"/>
            <a:ext cx="2743200" cy="1920240"/>
          </a:xfrm>
          <a:prstGeom prst="roundRect">
            <a:avLst>
              <a:gd name="adj" fmla="val 3810"/>
            </a:avLst>
          </a:prstGeom>
          <a:solidFill>
            <a:srgbClr val="FFFCF8"/>
          </a:solidFill>
          <a:ln w="12700">
            <a:solidFill>
              <a:srgbClr val="6F6B4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59352" y="1636776"/>
            <a:ext cx="24140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It Matters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867912" y="1911096"/>
            <a:ext cx="2596896" cy="1408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새 문서 추가 시 구조를 통일한다.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API, server, performance 같은 필수 섹션 누락을 줄인다.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748272" y="1508760"/>
            <a:ext cx="3127248" cy="1920240"/>
          </a:xfrm>
          <a:prstGeom prst="roundRect">
            <a:avLst>
              <a:gd name="adj" fmla="val 3810"/>
            </a:avLst>
          </a:prstGeom>
          <a:solidFill>
            <a:srgbClr val="FFFCF8"/>
          </a:solidFill>
          <a:ln w="12700">
            <a:solidFill>
              <a:srgbClr val="6F6B4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12864" y="1636776"/>
            <a:ext cx="27980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When To Open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821424" y="1911096"/>
            <a:ext cx="2980944" cy="1408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새 module / adapter / pack / composition 문서를 만들 때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기존 문서를 표준 포맷으로 정리할 때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58368" y="3675888"/>
            <a:ext cx="3749040" cy="2011680"/>
          </a:xfrm>
          <a:prstGeom prst="roundRect">
            <a:avLst>
              <a:gd name="adj" fmla="val 3636"/>
            </a:avLst>
          </a:prstGeom>
          <a:solidFill>
            <a:srgbClr val="FFFCF8"/>
          </a:solidFill>
          <a:ln w="12700">
            <a:solidFill>
              <a:srgbClr val="6F6B4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803904"/>
            <a:ext cx="34198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Sections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31520" y="4078224"/>
            <a:ext cx="3602736" cy="1499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 Contracts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 Entities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Mapping Rules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Failure Modes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17720" y="3675888"/>
            <a:ext cx="5257800" cy="2011680"/>
          </a:xfrm>
          <a:prstGeom prst="roundRect">
            <a:avLst>
              <a:gd name="adj" fmla="val 3636"/>
            </a:avLst>
          </a:prstGeom>
          <a:solidFill>
            <a:srgbClr val="FFFCF8"/>
          </a:solidFill>
          <a:ln w="12700">
            <a:solidFill>
              <a:srgbClr val="6F6B4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82312" y="3803904"/>
            <a:ext cx="49286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Connected Artifacts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690872" y="4078224"/>
            <a:ext cx="5111496" cy="1499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(none)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03504" y="6355080"/>
            <a:ext cx="10058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7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ERP Reverse Platform Full Reference | docs/erp-reverse-platform/adapter-template.md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149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15. Industry Pack Template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841248"/>
            <a:ext cx="9966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D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docs/erp-reverse-platform/industry-pack-template.md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1097280"/>
            <a:ext cx="1645920" cy="310896"/>
          </a:xfrm>
          <a:prstGeom prst="roundRect">
            <a:avLst>
              <a:gd name="adj" fmla="val 23529"/>
            </a:avLst>
          </a:prstGeom>
          <a:solidFill>
            <a:srgbClr val="F2E4D6"/>
          </a:solidFill>
          <a:ln w="12700">
            <a:solidFill>
              <a:srgbClr val="6F6B4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161288"/>
            <a:ext cx="14996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F6B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Template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58368" y="1508760"/>
            <a:ext cx="2926080" cy="1920240"/>
          </a:xfrm>
          <a:prstGeom prst="roundRect">
            <a:avLst>
              <a:gd name="adj" fmla="val 3810"/>
            </a:avLst>
          </a:prstGeom>
          <a:solidFill>
            <a:srgbClr val="FFFCF8"/>
          </a:solidFill>
          <a:ln w="12700">
            <a:solidFill>
              <a:srgbClr val="6F6B4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636776"/>
            <a:ext cx="25968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It Is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911096"/>
            <a:ext cx="2779776" cy="1408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industry does this pack target and what modules does it assemble?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794760" y="1508760"/>
            <a:ext cx="2743200" cy="1920240"/>
          </a:xfrm>
          <a:prstGeom prst="roundRect">
            <a:avLst>
              <a:gd name="adj" fmla="val 3810"/>
            </a:avLst>
          </a:prstGeom>
          <a:solidFill>
            <a:srgbClr val="FFFCF8"/>
          </a:solidFill>
          <a:ln w="12700">
            <a:solidFill>
              <a:srgbClr val="6F6B4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59352" y="1636776"/>
            <a:ext cx="24140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It Matters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867912" y="1911096"/>
            <a:ext cx="2596896" cy="1408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새 문서 추가 시 구조를 통일한다.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API, server, performance 같은 필수 섹션 누락을 줄인다.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748272" y="1508760"/>
            <a:ext cx="3127248" cy="1920240"/>
          </a:xfrm>
          <a:prstGeom prst="roundRect">
            <a:avLst>
              <a:gd name="adj" fmla="val 3810"/>
            </a:avLst>
          </a:prstGeom>
          <a:solidFill>
            <a:srgbClr val="FFFCF8"/>
          </a:solidFill>
          <a:ln w="12700">
            <a:solidFill>
              <a:srgbClr val="6F6B4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12864" y="1636776"/>
            <a:ext cx="27980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When To Open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821424" y="1911096"/>
            <a:ext cx="2980944" cy="1408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새 module / adapter / pack / composition 문서를 만들 때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기존 문서를 표준 포맷으로 정리할 때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58368" y="3675888"/>
            <a:ext cx="3749040" cy="2011680"/>
          </a:xfrm>
          <a:prstGeom prst="roundRect">
            <a:avLst>
              <a:gd name="adj" fmla="val 3636"/>
            </a:avLst>
          </a:prstGeom>
          <a:solidFill>
            <a:srgbClr val="FFFCF8"/>
          </a:solidFill>
          <a:ln w="12700">
            <a:solidFill>
              <a:srgbClr val="6F6B4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803904"/>
            <a:ext cx="34198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Sections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31520" y="4078224"/>
            <a:ext cx="3602736" cy="1499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 Modules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Overrides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Vocabulary Overrides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Compliance Rules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Default Tenant Config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17720" y="3675888"/>
            <a:ext cx="5257800" cy="2011680"/>
          </a:xfrm>
          <a:prstGeom prst="roundRect">
            <a:avLst>
              <a:gd name="adj" fmla="val 3636"/>
            </a:avLst>
          </a:prstGeom>
          <a:solidFill>
            <a:srgbClr val="FFFCF8"/>
          </a:solidFill>
          <a:ln w="12700">
            <a:solidFill>
              <a:srgbClr val="6F6B4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82312" y="3803904"/>
            <a:ext cx="49286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Connected Artifacts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690872" y="4078224"/>
            <a:ext cx="5111496" cy="1499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(none)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03504" y="6355080"/>
            <a:ext cx="10058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7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ERP Reverse Platform Full Reference | docs/erp-reverse-platform/industry-pack-template.md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149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16. Composition Template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841248"/>
            <a:ext cx="9966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D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docs/erp-reverse-platform/composition-template.md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1097280"/>
            <a:ext cx="1645920" cy="310896"/>
          </a:xfrm>
          <a:prstGeom prst="roundRect">
            <a:avLst>
              <a:gd name="adj" fmla="val 23529"/>
            </a:avLst>
          </a:prstGeom>
          <a:solidFill>
            <a:srgbClr val="F2E4D6"/>
          </a:solidFill>
          <a:ln w="12700">
            <a:solidFill>
              <a:srgbClr val="6F6B4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161288"/>
            <a:ext cx="14996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F6B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Template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58368" y="1508760"/>
            <a:ext cx="2926080" cy="1920240"/>
          </a:xfrm>
          <a:prstGeom prst="roundRect">
            <a:avLst>
              <a:gd name="adj" fmla="val 3810"/>
            </a:avLst>
          </a:prstGeom>
          <a:solidFill>
            <a:srgbClr val="FFFCF8"/>
          </a:solidFill>
          <a:ln w="12700">
            <a:solidFill>
              <a:srgbClr val="6F6B4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636776"/>
            <a:ext cx="25968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It Is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911096"/>
            <a:ext cx="2779776" cy="1408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concrete ERP product or tenant-ready bundle does this composition define?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794760" y="1508760"/>
            <a:ext cx="2743200" cy="1920240"/>
          </a:xfrm>
          <a:prstGeom prst="roundRect">
            <a:avLst>
              <a:gd name="adj" fmla="val 3810"/>
            </a:avLst>
          </a:prstGeom>
          <a:solidFill>
            <a:srgbClr val="FFFCF8"/>
          </a:solidFill>
          <a:ln w="12700">
            <a:solidFill>
              <a:srgbClr val="6F6B4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59352" y="1636776"/>
            <a:ext cx="24140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It Matters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867912" y="1911096"/>
            <a:ext cx="2596896" cy="1408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새 문서 추가 시 구조를 통일한다.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API, server, performance 같은 필수 섹션 누락을 줄인다.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748272" y="1508760"/>
            <a:ext cx="3127248" cy="1920240"/>
          </a:xfrm>
          <a:prstGeom prst="roundRect">
            <a:avLst>
              <a:gd name="adj" fmla="val 3810"/>
            </a:avLst>
          </a:prstGeom>
          <a:solidFill>
            <a:srgbClr val="FFFCF8"/>
          </a:solidFill>
          <a:ln w="12700">
            <a:solidFill>
              <a:srgbClr val="6F6B4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12864" y="1636776"/>
            <a:ext cx="27980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When To Open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821424" y="1911096"/>
            <a:ext cx="2980944" cy="1408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새 module / adapter / pack / composition 문서를 만들 때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기존 문서를 표준 포맷으로 정리할 때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58368" y="3675888"/>
            <a:ext cx="3749040" cy="2011680"/>
          </a:xfrm>
          <a:prstGeom prst="roundRect">
            <a:avLst>
              <a:gd name="adj" fmla="val 3636"/>
            </a:avLst>
          </a:prstGeom>
          <a:solidFill>
            <a:srgbClr val="FFFCF8"/>
          </a:solidFill>
          <a:ln w="12700">
            <a:solidFill>
              <a:srgbClr val="6F6B4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803904"/>
            <a:ext cx="34198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Sections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31520" y="4078224"/>
            <a:ext cx="3602736" cy="1499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Industry Pack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Enabled Modules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Adapter Bindings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Tenant Bindings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Navigation Layout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17720" y="3675888"/>
            <a:ext cx="5257800" cy="2011680"/>
          </a:xfrm>
          <a:prstGeom prst="roundRect">
            <a:avLst>
              <a:gd name="adj" fmla="val 3636"/>
            </a:avLst>
          </a:prstGeom>
          <a:solidFill>
            <a:srgbClr val="FFFCF8"/>
          </a:solidFill>
          <a:ln w="12700">
            <a:solidFill>
              <a:srgbClr val="6F6B4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82312" y="3803904"/>
            <a:ext cx="49286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Connected Artifacts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690872" y="4078224"/>
            <a:ext cx="5111496" cy="1499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(none)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03504" y="6355080"/>
            <a:ext cx="10058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7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ERP Reverse Platform Full Reference | docs/erp-reverse-platform/composition-template.md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149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17. Adapter: Safety Upstream Normalization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841248"/>
            <a:ext cx="9966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D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docs/erp-reverse-platform/adapters/safety-upstream-normalization/adapter.md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1097280"/>
            <a:ext cx="1645920" cy="310896"/>
          </a:xfrm>
          <a:prstGeom prst="roundRect">
            <a:avLst>
              <a:gd name="adj" fmla="val 23529"/>
            </a:avLst>
          </a:prstGeom>
          <a:solidFill>
            <a:srgbClr val="F2E4D6"/>
          </a:solidFill>
          <a:ln w="12700">
            <a:solidFill>
              <a:srgbClr val="7A4D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161288"/>
            <a:ext cx="14996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A4D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Adapter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58368" y="1508760"/>
            <a:ext cx="2926080" cy="1920240"/>
          </a:xfrm>
          <a:prstGeom prst="roundRect">
            <a:avLst>
              <a:gd name="adj" fmla="val 3810"/>
            </a:avLst>
          </a:prstGeom>
          <a:solidFill>
            <a:srgbClr val="FFFCF8"/>
          </a:solidFill>
          <a:ln w="12700">
            <a:solidFill>
              <a:srgbClr val="7A4D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636776"/>
            <a:ext cx="25968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It Is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911096"/>
            <a:ext cx="2779776" cy="1408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Normalize current safety-service payloads into platform entities that the reverse module catalog can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794760" y="1508760"/>
            <a:ext cx="2743200" cy="1920240"/>
          </a:xfrm>
          <a:prstGeom prst="roundRect">
            <a:avLst>
              <a:gd name="adj" fmla="val 3810"/>
            </a:avLst>
          </a:prstGeom>
          <a:solidFill>
            <a:srgbClr val="FFFCF8"/>
          </a:solidFill>
          <a:ln w="12700">
            <a:solidFill>
              <a:srgbClr val="7A4D2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59352" y="1636776"/>
            <a:ext cx="24140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It Matters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867912" y="1911096"/>
            <a:ext cx="2596896" cy="1408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route/payload 결합을 module 밖으로 밀어낸다.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upstream drift를 adapter 경계에서 격리한다.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748272" y="1508760"/>
            <a:ext cx="3127248" cy="1920240"/>
          </a:xfrm>
          <a:prstGeom prst="roundRect">
            <a:avLst>
              <a:gd name="adj" fmla="val 3810"/>
            </a:avLst>
          </a:prstGeom>
          <a:solidFill>
            <a:srgbClr val="FFFCF8"/>
          </a:solidFill>
          <a:ln w="12700">
            <a:solidFill>
              <a:srgbClr val="7A4D2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12864" y="1636776"/>
            <a:ext cx="27980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When To Open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821424" y="1911096"/>
            <a:ext cx="2980944" cy="1408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payload naming이나 enum mapping을 이해해야 할 때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외부 시스템 연결 규칙을 수정할 때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58368" y="3675888"/>
            <a:ext cx="3749040" cy="2011680"/>
          </a:xfrm>
          <a:prstGeom prst="roundRect">
            <a:avLst>
              <a:gd name="adj" fmla="val 3636"/>
            </a:avLst>
          </a:prstGeom>
          <a:solidFill>
            <a:srgbClr val="FFFCF8"/>
          </a:solidFill>
          <a:ln w="12700">
            <a:solidFill>
              <a:srgbClr val="7A4D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803904"/>
            <a:ext cx="34198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Sections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31520" y="4078224"/>
            <a:ext cx="3602736" cy="1499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 Contracts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 Entities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Mapping Rules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Failure Modes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17720" y="3675888"/>
            <a:ext cx="5257800" cy="2011680"/>
          </a:xfrm>
          <a:prstGeom prst="roundRect">
            <a:avLst>
              <a:gd name="adj" fmla="val 3636"/>
            </a:avLst>
          </a:prstGeom>
          <a:solidFill>
            <a:srgbClr val="FFFCF8"/>
          </a:solidFill>
          <a:ln w="12700">
            <a:solidFill>
              <a:srgbClr val="7A4D2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82312" y="3803904"/>
            <a:ext cx="49286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Connected Artifacts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690872" y="4078224"/>
            <a:ext cx="5111496" cy="1499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docs/erp-reverse-platform/adapters/safety-upstream-normalization/adapter.manifest.json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03504" y="6355080"/>
            <a:ext cx="10058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7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ERP Reverse Platform Full Reference | docs/erp-reverse-platform/adapters/safety-upstream-normalization/adapter.md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149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18. Industry Pack: Construction Safety Core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841248"/>
            <a:ext cx="9966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D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docs/erp-reverse-platform/industry-packs/construction-safety-core/pack.md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1097280"/>
            <a:ext cx="1645920" cy="310896"/>
          </a:xfrm>
          <a:prstGeom prst="roundRect">
            <a:avLst>
              <a:gd name="adj" fmla="val 23529"/>
            </a:avLst>
          </a:prstGeom>
          <a:solidFill>
            <a:srgbClr val="F2E4D6"/>
          </a:solidFill>
          <a:ln w="12700">
            <a:solidFill>
              <a:srgbClr val="2B6A5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161288"/>
            <a:ext cx="14996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6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Industry Pack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58368" y="1508760"/>
            <a:ext cx="2926080" cy="1920240"/>
          </a:xfrm>
          <a:prstGeom prst="roundRect">
            <a:avLst>
              <a:gd name="adj" fmla="val 3810"/>
            </a:avLst>
          </a:prstGeom>
          <a:solidFill>
            <a:srgbClr val="FFFCF8"/>
          </a:solidFill>
          <a:ln w="12700">
            <a:solidFill>
              <a:srgbClr val="2B6A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636776"/>
            <a:ext cx="25968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It Is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911096"/>
            <a:ext cx="2779776" cy="1408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Provide the construction-safety flavored policy, vocabulary, and compliance layer on top of the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794760" y="1508760"/>
            <a:ext cx="2743200" cy="1920240"/>
          </a:xfrm>
          <a:prstGeom prst="roundRect">
            <a:avLst>
              <a:gd name="adj" fmla="val 3810"/>
            </a:avLst>
          </a:prstGeom>
          <a:solidFill>
            <a:srgbClr val="FFFCF8"/>
          </a:solidFill>
          <a:ln w="12700">
            <a:solidFill>
              <a:srgbClr val="2B6A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59352" y="1636776"/>
            <a:ext cx="24140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It Matters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867912" y="1911096"/>
            <a:ext cx="2596896" cy="1408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공통 module과 산업별 규칙을 분리한다.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허용된 override surface만 사용하도록 돕는다.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748272" y="1508760"/>
            <a:ext cx="3127248" cy="1920240"/>
          </a:xfrm>
          <a:prstGeom prst="roundRect">
            <a:avLst>
              <a:gd name="adj" fmla="val 3810"/>
            </a:avLst>
          </a:prstGeom>
          <a:solidFill>
            <a:srgbClr val="FFFCF8"/>
          </a:solidFill>
          <a:ln w="12700">
            <a:solidFill>
              <a:srgbClr val="2B6A5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12864" y="1636776"/>
            <a:ext cx="27980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When To Open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821424" y="1911096"/>
            <a:ext cx="2980944" cy="1408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다른 산업 variant를 설계할 때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override와 vocabulary를 검토할 때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58368" y="3675888"/>
            <a:ext cx="3749040" cy="2011680"/>
          </a:xfrm>
          <a:prstGeom prst="roundRect">
            <a:avLst>
              <a:gd name="adj" fmla="val 3636"/>
            </a:avLst>
          </a:prstGeom>
          <a:solidFill>
            <a:srgbClr val="FFFCF8"/>
          </a:solidFill>
          <a:ln w="12700">
            <a:solidFill>
              <a:srgbClr val="2B6A5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803904"/>
            <a:ext cx="34198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Sections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31520" y="4078224"/>
            <a:ext cx="3602736" cy="1499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 Modules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Overrides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Vocabulary Overrides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Compliance Rules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Default Tenant Config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17720" y="3675888"/>
            <a:ext cx="5257800" cy="2011680"/>
          </a:xfrm>
          <a:prstGeom prst="roundRect">
            <a:avLst>
              <a:gd name="adj" fmla="val 3636"/>
            </a:avLst>
          </a:prstGeom>
          <a:solidFill>
            <a:srgbClr val="FFFCF8"/>
          </a:solidFill>
          <a:ln w="12700">
            <a:solidFill>
              <a:srgbClr val="2B6A5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82312" y="3803904"/>
            <a:ext cx="49286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Connected Artifacts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690872" y="4078224"/>
            <a:ext cx="5111496" cy="1499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docs/erp-reverse-platform/industry-packs/construction-safety-core/pack.manifest.json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03504" y="6355080"/>
            <a:ext cx="10058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7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ERP Reverse Platform Full Reference | docs/erp-reverse-platform/industry-packs/construction-safety-core/pack.md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149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19. Composition: AIDLC Control Tower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841248"/>
            <a:ext cx="9966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D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docs/erp-reverse-platform/compositions/aidlc-control-tower/composition.md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1097280"/>
            <a:ext cx="1645920" cy="310896"/>
          </a:xfrm>
          <a:prstGeom prst="roundRect">
            <a:avLst>
              <a:gd name="adj" fmla="val 23529"/>
            </a:avLst>
          </a:prstGeom>
          <a:solidFill>
            <a:srgbClr val="F2E4D6"/>
          </a:solidFill>
          <a:ln w="12700">
            <a:solidFill>
              <a:srgbClr val="5A4E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161288"/>
            <a:ext cx="14996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A4E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Composition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58368" y="1508760"/>
            <a:ext cx="2926080" cy="1920240"/>
          </a:xfrm>
          <a:prstGeom prst="roundRect">
            <a:avLst>
              <a:gd name="adj" fmla="val 3810"/>
            </a:avLst>
          </a:prstGeom>
          <a:solidFill>
            <a:srgbClr val="FFFCF8"/>
          </a:solidFill>
          <a:ln w="12700">
            <a:solidFill>
              <a:srgbClr val="5A4E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636776"/>
            <a:ext cx="25968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It Is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911096"/>
            <a:ext cx="2779776" cy="1408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Provide an example product composition that assembles the starter reverse modules into a concrete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794760" y="1508760"/>
            <a:ext cx="2743200" cy="1920240"/>
          </a:xfrm>
          <a:prstGeom prst="roundRect">
            <a:avLst>
              <a:gd name="adj" fmla="val 3810"/>
            </a:avLst>
          </a:prstGeom>
          <a:solidFill>
            <a:srgbClr val="FFFCF8"/>
          </a:solidFill>
          <a:ln w="12700">
            <a:solidFill>
              <a:srgbClr val="5A4E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59352" y="1636776"/>
            <a:ext cx="24140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It Matters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867912" y="1911096"/>
            <a:ext cx="2596896" cy="1408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 catalog가 실제 제품으로 조립되는 모습을 보여준다.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navigation과 tenant binding까지 한 번에 추적할 수 있다.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748272" y="1508760"/>
            <a:ext cx="3127248" cy="1920240"/>
          </a:xfrm>
          <a:prstGeom prst="roundRect">
            <a:avLst>
              <a:gd name="adj" fmla="val 3810"/>
            </a:avLst>
          </a:prstGeom>
          <a:solidFill>
            <a:srgbClr val="FFFCF8"/>
          </a:solidFill>
          <a:ln w="12700">
            <a:solidFill>
              <a:srgbClr val="5A4E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12864" y="1636776"/>
            <a:ext cx="27980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When To Open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821424" y="1911096"/>
            <a:ext cx="2980944" cy="1408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제품 단위 구성을 설명해야 할 때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enabled modules와 navigation layout을 확인할 때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58368" y="3675888"/>
            <a:ext cx="3749040" cy="2011680"/>
          </a:xfrm>
          <a:prstGeom prst="roundRect">
            <a:avLst>
              <a:gd name="adj" fmla="val 3636"/>
            </a:avLst>
          </a:prstGeom>
          <a:solidFill>
            <a:srgbClr val="FFFCF8"/>
          </a:solidFill>
          <a:ln w="12700">
            <a:solidFill>
              <a:srgbClr val="5A4E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803904"/>
            <a:ext cx="34198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Sections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31520" y="4078224"/>
            <a:ext cx="3602736" cy="1499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Industry Pack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Enabled Modules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Adapter Bindings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Tenant Bindings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Navigation Layout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17720" y="3675888"/>
            <a:ext cx="5257800" cy="2011680"/>
          </a:xfrm>
          <a:prstGeom prst="roundRect">
            <a:avLst>
              <a:gd name="adj" fmla="val 3636"/>
            </a:avLst>
          </a:prstGeom>
          <a:solidFill>
            <a:srgbClr val="FFFCF8"/>
          </a:solidFill>
          <a:ln w="12700">
            <a:solidFill>
              <a:srgbClr val="5A4E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82312" y="3803904"/>
            <a:ext cx="49286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Connected Artifacts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690872" y="4078224"/>
            <a:ext cx="5111496" cy="1499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docs/erp-reverse-platform/compositions/aidlc-control-tower/composition.manifest.json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03504" y="6355080"/>
            <a:ext cx="10058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7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ERP Reverse Platform Full Reference | docs/erp-reverse-platform/compositions/aidlc-control-tower/composition.md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149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20. Platform Primitive: Asset Attachment Pipeline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841248"/>
            <a:ext cx="9966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D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docs/erp-reverse-platform/modules/platform-asset.attachment-pipeline/module.md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1097280"/>
            <a:ext cx="1645920" cy="310896"/>
          </a:xfrm>
          <a:prstGeom prst="roundRect">
            <a:avLst>
              <a:gd name="adj" fmla="val 23529"/>
            </a:avLst>
          </a:prstGeom>
          <a:solidFill>
            <a:srgbClr val="F2E4D6"/>
          </a:solidFill>
          <a:ln w="12700">
            <a:solidFill>
              <a:srgbClr val="245D7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161288"/>
            <a:ext cx="14996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45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Platform Primitive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58368" y="1508760"/>
            <a:ext cx="2926080" cy="1920240"/>
          </a:xfrm>
          <a:prstGeom prst="roundRect">
            <a:avLst>
              <a:gd name="adj" fmla="val 3810"/>
            </a:avLst>
          </a:prstGeom>
          <a:solidFill>
            <a:srgbClr val="FFFCF8"/>
          </a:solidFill>
          <a:ln w="12700">
            <a:solidFill>
              <a:srgbClr val="245D7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636776"/>
            <a:ext cx="25968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It Is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911096"/>
            <a:ext cx="2779776" cy="1408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Provide a shared upload, preview, selection, and download pipeline for attachment-heavy ERP flows.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794760" y="1508760"/>
            <a:ext cx="2743200" cy="1920240"/>
          </a:xfrm>
          <a:prstGeom prst="roundRect">
            <a:avLst>
              <a:gd name="adj" fmla="val 3810"/>
            </a:avLst>
          </a:prstGeom>
          <a:solidFill>
            <a:srgbClr val="FFFCF8"/>
          </a:solidFill>
          <a:ln w="12700">
            <a:solidFill>
              <a:srgbClr val="245D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59352" y="1636776"/>
            <a:ext cx="24140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It Matters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867912" y="1911096"/>
            <a:ext cx="2596896" cy="1408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공통 cache, list, document, asset 흐름의 책임 경계를 잡아준다.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여러 module이 같은 기반을 공유할 때 중복 구현을 줄인다.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748272" y="1508760"/>
            <a:ext cx="3127248" cy="1920240"/>
          </a:xfrm>
          <a:prstGeom prst="roundRect">
            <a:avLst>
              <a:gd name="adj" fmla="val 3810"/>
            </a:avLst>
          </a:prstGeom>
          <a:solidFill>
            <a:srgbClr val="FFFCF8"/>
          </a:solidFill>
          <a:ln w="12700">
            <a:solidFill>
              <a:srgbClr val="245D7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12864" y="1636776"/>
            <a:ext cx="27980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When To Open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821424" y="1911096"/>
            <a:ext cx="2980944" cy="1408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 capability를 수정하려 할 때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하위 business module 여러 개가 같이 영향을 받을 때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58368" y="3675888"/>
            <a:ext cx="3749040" cy="2011680"/>
          </a:xfrm>
          <a:prstGeom prst="roundRect">
            <a:avLst>
              <a:gd name="adj" fmla="val 3636"/>
            </a:avLst>
          </a:prstGeom>
          <a:solidFill>
            <a:srgbClr val="FFFCF8"/>
          </a:solidFill>
          <a:ln w="12700">
            <a:solidFill>
              <a:srgbClr val="245D7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803904"/>
            <a:ext cx="34198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Sections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31520" y="4078224"/>
            <a:ext cx="3602736" cy="1499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Roles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Entry Conditions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 Model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Journeys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Contracts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17720" y="3675888"/>
            <a:ext cx="5257800" cy="2011680"/>
          </a:xfrm>
          <a:prstGeom prst="roundRect">
            <a:avLst>
              <a:gd name="adj" fmla="val 3636"/>
            </a:avLst>
          </a:prstGeom>
          <a:solidFill>
            <a:srgbClr val="FFFCF8"/>
          </a:solidFill>
          <a:ln w="12700">
            <a:solidFill>
              <a:srgbClr val="245D7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82312" y="3803904"/>
            <a:ext cx="49286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Connected Artifacts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690872" y="4078224"/>
            <a:ext cx="5111496" cy="1499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docs/erp-reverse-platform/modules/platform-asset.attachment-pipeline/module.manifest.json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03504" y="6355080"/>
            <a:ext cx="10058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7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ERP Reverse Platform Full Reference | docs/erp-reverse-platform/modules/platform-asset.attachment-pipeline/module.md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149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21. Platform Primitive: Asset Attachment Pipeline Deep Dive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841248"/>
            <a:ext cx="9966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D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docs/erp-reverse-platform/modules/platform-asset.attachment-pipeline/module.md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1097280"/>
            <a:ext cx="1783080" cy="310896"/>
          </a:xfrm>
          <a:prstGeom prst="roundRect">
            <a:avLst>
              <a:gd name="adj" fmla="val 23529"/>
            </a:avLst>
          </a:prstGeom>
          <a:solidFill>
            <a:srgbClr val="F2E4D6"/>
          </a:solidFill>
          <a:ln w="12700">
            <a:solidFill>
              <a:srgbClr val="245D7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161288"/>
            <a:ext cx="16367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45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 Deep Dive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58368" y="1481328"/>
            <a:ext cx="3017520" cy="3611880"/>
          </a:xfrm>
          <a:prstGeom prst="roundRect">
            <a:avLst>
              <a:gd name="adj" fmla="val 2424"/>
            </a:avLst>
          </a:prstGeom>
          <a:solidFill>
            <a:srgbClr val="FFFCF8"/>
          </a:solidFill>
          <a:ln w="12700">
            <a:solidFill>
              <a:srgbClr val="245D7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609344"/>
            <a:ext cx="26883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API Contracts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883664"/>
            <a:ext cx="2871216" cy="3099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 /api/photos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request: admin-authenticated request with site, round, filter, pagination, and mode query parameters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response: paged asset rows, capabilities, and total counts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 /api/photos/upload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877056" y="1481328"/>
            <a:ext cx="2788920" cy="3611880"/>
          </a:xfrm>
          <a:prstGeom prst="roundRect">
            <a:avLst>
              <a:gd name="adj" fmla="val 2623"/>
            </a:avLst>
          </a:prstGeom>
          <a:solidFill>
            <a:srgbClr val="FFFCF8"/>
          </a:solidFill>
          <a:ln w="12700">
            <a:solidFill>
              <a:srgbClr val="245D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41648" y="1609344"/>
            <a:ext cx="24597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Server Touchpoints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950208" y="1883664"/>
            <a:ext cx="2642616" cy="3099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app/api/photos/route.ts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app/api/photos/upload/route.ts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app/api/photos/download/route.ts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server/photos/service.ts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server/photos/album.ts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67144" y="1481328"/>
            <a:ext cx="3008376" cy="3611880"/>
          </a:xfrm>
          <a:prstGeom prst="roundRect">
            <a:avLst>
              <a:gd name="adj" fmla="val 2432"/>
            </a:avLst>
          </a:prstGeom>
          <a:solidFill>
            <a:srgbClr val="FFFCF8"/>
          </a:solidFill>
          <a:ln w="12700">
            <a:solidFill>
              <a:srgbClr val="245D7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31736" y="1609344"/>
            <a:ext cx="26791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Performance Guardrails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940296" y="1883664"/>
            <a:ext cx="2862072" cy="3099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Asset list fetch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target: &lt;= 3000ms, &lt;= 1500000 bytes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cache: no durable server cache; rely on current query context and explicit reload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invalidation: upload, patch/delete, round or site filter change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Asset upload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68096" y="5413248"/>
            <a:ext cx="90525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Invariant: Route-derived context survives wrapper changes.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Invariant: Upload, preview, and download share the same normalized asset identity.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Variability: asset.allowedKinds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Variability: asset.reviewFlags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03504" y="6355080"/>
            <a:ext cx="10058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7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ERP Reverse Platform Full Reference | docs/erp-reverse-platform/modules/platform-asset.attachment-pipeline/module.md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149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22. Platform Primitive: Dashboard Snapshot Cache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841248"/>
            <a:ext cx="9966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D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docs/erp-reverse-platform/modules/platform-dashboard.snapshot-cache/module.md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1097280"/>
            <a:ext cx="1645920" cy="310896"/>
          </a:xfrm>
          <a:prstGeom prst="roundRect">
            <a:avLst>
              <a:gd name="adj" fmla="val 23529"/>
            </a:avLst>
          </a:prstGeom>
          <a:solidFill>
            <a:srgbClr val="F2E4D6"/>
          </a:solidFill>
          <a:ln w="12700">
            <a:solidFill>
              <a:srgbClr val="245D7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161288"/>
            <a:ext cx="14996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45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Platform Primitive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58368" y="1508760"/>
            <a:ext cx="2926080" cy="1920240"/>
          </a:xfrm>
          <a:prstGeom prst="roundRect">
            <a:avLst>
              <a:gd name="adj" fmla="val 3810"/>
            </a:avLst>
          </a:prstGeom>
          <a:solidFill>
            <a:srgbClr val="FFFCF8"/>
          </a:solidFill>
          <a:ln w="12700">
            <a:solidFill>
              <a:srgbClr val="245D7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636776"/>
            <a:ext cx="25968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It Is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911096"/>
            <a:ext cx="2779776" cy="1408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Provide a reusable dashboard snapshot lifecycle for first paint, background refresh, and section-level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794760" y="1508760"/>
            <a:ext cx="2743200" cy="1920240"/>
          </a:xfrm>
          <a:prstGeom prst="roundRect">
            <a:avLst>
              <a:gd name="adj" fmla="val 3810"/>
            </a:avLst>
          </a:prstGeom>
          <a:solidFill>
            <a:srgbClr val="FFFCF8"/>
          </a:solidFill>
          <a:ln w="12700">
            <a:solidFill>
              <a:srgbClr val="245D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59352" y="1636776"/>
            <a:ext cx="24140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It Matters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867912" y="1911096"/>
            <a:ext cx="2596896" cy="1408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공통 cache, list, document, asset 흐름의 책임 경계를 잡아준다.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여러 module이 같은 기반을 공유할 때 중복 구현을 줄인다.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748272" y="1508760"/>
            <a:ext cx="3127248" cy="1920240"/>
          </a:xfrm>
          <a:prstGeom prst="roundRect">
            <a:avLst>
              <a:gd name="adj" fmla="val 3810"/>
            </a:avLst>
          </a:prstGeom>
          <a:solidFill>
            <a:srgbClr val="FFFCF8"/>
          </a:solidFill>
          <a:ln w="12700">
            <a:solidFill>
              <a:srgbClr val="245D7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12864" y="1636776"/>
            <a:ext cx="27980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When To Open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821424" y="1911096"/>
            <a:ext cx="2980944" cy="1408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 capability를 수정하려 할 때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하위 business module 여러 개가 같이 영향을 받을 때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58368" y="3675888"/>
            <a:ext cx="3749040" cy="2011680"/>
          </a:xfrm>
          <a:prstGeom prst="roundRect">
            <a:avLst>
              <a:gd name="adj" fmla="val 3636"/>
            </a:avLst>
          </a:prstGeom>
          <a:solidFill>
            <a:srgbClr val="FFFCF8"/>
          </a:solidFill>
          <a:ln w="12700">
            <a:solidFill>
              <a:srgbClr val="245D7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803904"/>
            <a:ext cx="34198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Sections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31520" y="4078224"/>
            <a:ext cx="3602736" cy="1499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Roles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Entry Conditions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 Model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Journeys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Contracts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17720" y="3675888"/>
            <a:ext cx="5257800" cy="2011680"/>
          </a:xfrm>
          <a:prstGeom prst="roundRect">
            <a:avLst>
              <a:gd name="adj" fmla="val 3636"/>
            </a:avLst>
          </a:prstGeom>
          <a:solidFill>
            <a:srgbClr val="FFFCF8"/>
          </a:solidFill>
          <a:ln w="12700">
            <a:solidFill>
              <a:srgbClr val="245D7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82312" y="3803904"/>
            <a:ext cx="49286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Connected Artifacts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690872" y="4078224"/>
            <a:ext cx="5111496" cy="1499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docs/erp-reverse-platform/modules/platform-dashboard.snapshot-cache/module.manifest.json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03504" y="6355080"/>
            <a:ext cx="10058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7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ERP Reverse Platform Full Reference | docs/erp-reverse-platform/modules/platform-dashboard.snapshot-cache/module.md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149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23. Platform Primitive: Dashboard Snapshot Cache Deep Dive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841248"/>
            <a:ext cx="9966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D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docs/erp-reverse-platform/modules/platform-dashboard.snapshot-cache/module.md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1097280"/>
            <a:ext cx="1783080" cy="310896"/>
          </a:xfrm>
          <a:prstGeom prst="roundRect">
            <a:avLst>
              <a:gd name="adj" fmla="val 23529"/>
            </a:avLst>
          </a:prstGeom>
          <a:solidFill>
            <a:srgbClr val="F2E4D6"/>
          </a:solidFill>
          <a:ln w="12700">
            <a:solidFill>
              <a:srgbClr val="245D7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161288"/>
            <a:ext cx="16367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45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 Deep Dive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58368" y="1481328"/>
            <a:ext cx="3017520" cy="3611880"/>
          </a:xfrm>
          <a:prstGeom prst="roundRect">
            <a:avLst>
              <a:gd name="adj" fmla="val 2424"/>
            </a:avLst>
          </a:prstGeom>
          <a:solidFill>
            <a:srgbClr val="FFFCF8"/>
          </a:solidFill>
          <a:ln w="12700">
            <a:solidFill>
              <a:srgbClr val="245D7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609344"/>
            <a:ext cx="26883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API Contracts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883664"/>
            <a:ext cx="2871216" cy="3099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 /api/admin/dashboard/overview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request: admin-authenticated request with optional cached session context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response: overview sections, queue cards, summary counts, export-visible rows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 /api/admin/dashboard/analytics?period=month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877056" y="1481328"/>
            <a:ext cx="2788920" cy="3611880"/>
          </a:xfrm>
          <a:prstGeom prst="roundRect">
            <a:avLst>
              <a:gd name="adj" fmla="val 2623"/>
            </a:avLst>
          </a:prstGeom>
          <a:solidFill>
            <a:srgbClr val="FFFCF8"/>
          </a:solidFill>
          <a:ln w="12700">
            <a:solidFill>
              <a:srgbClr val="245D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41648" y="1609344"/>
            <a:ext cx="24597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Server Touchpoints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950208" y="1883664"/>
            <a:ext cx="2642616" cy="3099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app/api/admin/dashboard/overview/route.ts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app/api/admin/dashboard/overview/routeFallbacks.ts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server/admin/overviewPolicyOverlay.ts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server/admin/overviewRouteCache.ts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app/api/admin/dashboard/analytics/route.ts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67144" y="1481328"/>
            <a:ext cx="3008376" cy="3611880"/>
          </a:xfrm>
          <a:prstGeom prst="roundRect">
            <a:avLst>
              <a:gd name="adj" fmla="val 2432"/>
            </a:avLst>
          </a:prstGeom>
          <a:solidFill>
            <a:srgbClr val="FFFCF8"/>
          </a:solidFill>
          <a:ln w="12700">
            <a:solidFill>
              <a:srgbClr val="245D7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31736" y="1609344"/>
            <a:ext cx="26791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Performance Guardrails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940296" y="1883664"/>
            <a:ext cx="2862072" cy="3099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 overview snapshot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target: &lt;= 7000ms, &lt;= 2500000 bytes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cache: admin session cache plus route-level snapshot reuse for first paint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invalidation: report/site/assignment mutations that change overview counts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 analytics summary snapshot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68096" y="5413248"/>
            <a:ext cx="90525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Invariant: First paint may use cache, but the shell must converge to the latest compatible remote snapshot.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Invariant: Refresh should not blank the shell if a compatible snapshot already exists.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Variability: dashboard.queueDefinitions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Variability: dashboard.defaultFilters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03504" y="6355080"/>
            <a:ext cx="10058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7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ERP Reverse Platform Full Reference | docs/erp-reverse-platform/modules/platform-dashboard.snapshot-cache/module.md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149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24. Platform Primitive: Document Output Pipeline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841248"/>
            <a:ext cx="9966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D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docs/erp-reverse-platform/modules/platform-document.output-pipeline/module.md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1097280"/>
            <a:ext cx="1645920" cy="310896"/>
          </a:xfrm>
          <a:prstGeom prst="roundRect">
            <a:avLst>
              <a:gd name="adj" fmla="val 23529"/>
            </a:avLst>
          </a:prstGeom>
          <a:solidFill>
            <a:srgbClr val="F2E4D6"/>
          </a:solidFill>
          <a:ln w="12700">
            <a:solidFill>
              <a:srgbClr val="245D7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161288"/>
            <a:ext cx="14996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45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Platform Primitive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58368" y="1508760"/>
            <a:ext cx="2926080" cy="1920240"/>
          </a:xfrm>
          <a:prstGeom prst="roundRect">
            <a:avLst>
              <a:gd name="adj" fmla="val 3810"/>
            </a:avLst>
          </a:prstGeom>
          <a:solidFill>
            <a:srgbClr val="FFFCF8"/>
          </a:solidFill>
          <a:ln w="12700">
            <a:solidFill>
              <a:srgbClr val="245D7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636776"/>
            <a:ext cx="25968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It Is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911096"/>
            <a:ext cx="2779776" cy="1408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Provide a shared document output lifecycle for save-before-export, rendered output reuse, and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794760" y="1508760"/>
            <a:ext cx="2743200" cy="1920240"/>
          </a:xfrm>
          <a:prstGeom prst="roundRect">
            <a:avLst>
              <a:gd name="adj" fmla="val 3810"/>
            </a:avLst>
          </a:prstGeom>
          <a:solidFill>
            <a:srgbClr val="FFFCF8"/>
          </a:solidFill>
          <a:ln w="12700">
            <a:solidFill>
              <a:srgbClr val="245D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59352" y="1636776"/>
            <a:ext cx="24140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It Matters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867912" y="1911096"/>
            <a:ext cx="2596896" cy="1408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공통 cache, list, document, asset 흐름의 책임 경계를 잡아준다.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여러 module이 같은 기반을 공유할 때 중복 구현을 줄인다.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748272" y="1508760"/>
            <a:ext cx="3127248" cy="1920240"/>
          </a:xfrm>
          <a:prstGeom prst="roundRect">
            <a:avLst>
              <a:gd name="adj" fmla="val 3810"/>
            </a:avLst>
          </a:prstGeom>
          <a:solidFill>
            <a:srgbClr val="FFFCF8"/>
          </a:solidFill>
          <a:ln w="12700">
            <a:solidFill>
              <a:srgbClr val="245D7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12864" y="1636776"/>
            <a:ext cx="27980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When To Open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821424" y="1911096"/>
            <a:ext cx="2980944" cy="1408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 capability를 수정하려 할 때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하위 business module 여러 개가 같이 영향을 받을 때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58368" y="3675888"/>
            <a:ext cx="3749040" cy="2011680"/>
          </a:xfrm>
          <a:prstGeom prst="roundRect">
            <a:avLst>
              <a:gd name="adj" fmla="val 3636"/>
            </a:avLst>
          </a:prstGeom>
          <a:solidFill>
            <a:srgbClr val="FFFCF8"/>
          </a:solidFill>
          <a:ln w="12700">
            <a:solidFill>
              <a:srgbClr val="245D7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803904"/>
            <a:ext cx="34198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Sections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31520" y="4078224"/>
            <a:ext cx="3602736" cy="1499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Roles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Entry Conditions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 Model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Journeys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Contracts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17720" y="3675888"/>
            <a:ext cx="5257800" cy="2011680"/>
          </a:xfrm>
          <a:prstGeom prst="roundRect">
            <a:avLst>
              <a:gd name="adj" fmla="val 3636"/>
            </a:avLst>
          </a:prstGeom>
          <a:solidFill>
            <a:srgbClr val="FFFCF8"/>
          </a:solidFill>
          <a:ln w="12700">
            <a:solidFill>
              <a:srgbClr val="245D7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82312" y="3803904"/>
            <a:ext cx="49286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Connected Artifacts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690872" y="4078224"/>
            <a:ext cx="5111496" cy="1499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docs/erp-reverse-platform/modules/platform-document.output-pipeline/module.manifest.json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03504" y="6355080"/>
            <a:ext cx="10058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7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ERP Reverse Platform Full Reference | docs/erp-reverse-platform/modules/platform-document.output-pipeline/module.md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149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25. Platform Primitive: Document Output Pipeline Deep Dive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841248"/>
            <a:ext cx="9966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D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docs/erp-reverse-platform/modules/platform-document.output-pipeline/module.md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1097280"/>
            <a:ext cx="1783080" cy="310896"/>
          </a:xfrm>
          <a:prstGeom prst="roundRect">
            <a:avLst>
              <a:gd name="adj" fmla="val 23529"/>
            </a:avLst>
          </a:prstGeom>
          <a:solidFill>
            <a:srgbClr val="F2E4D6"/>
          </a:solidFill>
          <a:ln w="12700">
            <a:solidFill>
              <a:srgbClr val="245D7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161288"/>
            <a:ext cx="16367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45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 Deep Dive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58368" y="1481328"/>
            <a:ext cx="3017520" cy="3611880"/>
          </a:xfrm>
          <a:prstGeom prst="roundRect">
            <a:avLst>
              <a:gd name="adj" fmla="val 2424"/>
            </a:avLst>
          </a:prstGeom>
          <a:solidFill>
            <a:srgbClr val="FFFCF8"/>
          </a:solidFill>
          <a:ln w="12700">
            <a:solidFill>
              <a:srgbClr val="245D7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609344"/>
            <a:ext cx="26883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API Contracts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883664"/>
            <a:ext cx="2871216" cy="3099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 /api/safety/reports/upsert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request: authenticated proxy request carrying the latest draft and fresh updatedAt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response: persisted report payload used as the export source of truth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 /api/documents/quarterly/pdf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877056" y="1481328"/>
            <a:ext cx="2788920" cy="3611880"/>
          </a:xfrm>
          <a:prstGeom prst="roundRect">
            <a:avLst>
              <a:gd name="adj" fmla="val 2623"/>
            </a:avLst>
          </a:prstGeom>
          <a:solidFill>
            <a:srgbClr val="FFFCF8"/>
          </a:solidFill>
          <a:ln w="12700">
            <a:solidFill>
              <a:srgbClr val="245D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41648" y="1609344"/>
            <a:ext cx="24597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Server Touchpoints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950208" y="1883664"/>
            <a:ext cx="2642616" cy="3099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app/api/safety/[...path]/route.ts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external upstream FastAPI /api/v1/reports/upsert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app/api/documents/quarterly/pdf/route.ts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server/documents/quarterly/requestResolver.ts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67144" y="1481328"/>
            <a:ext cx="3008376" cy="3611880"/>
          </a:xfrm>
          <a:prstGeom prst="roundRect">
            <a:avLst>
              <a:gd name="adj" fmla="val 2432"/>
            </a:avLst>
          </a:prstGeom>
          <a:solidFill>
            <a:srgbClr val="FFFCF8"/>
          </a:solidFill>
          <a:ln w="12700">
            <a:solidFill>
              <a:srgbClr val="245D7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31736" y="1609344"/>
            <a:ext cx="26791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Performance Guardrails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940296" y="1883664"/>
            <a:ext cx="2862072" cy="3099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 draft before export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target: &lt;= 8000ms, &lt;= 500000 bytes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cache: no cache; successful persistence becomes the export source of truth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invalidation: every export attempt, every explicit save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Binary document generation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68096" y="5413248"/>
            <a:ext cx="90525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Invariant: Export must not run against stale editor state.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Invariant: Existing successful artifacts stay reusable until explicitly replaced.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Variability: document.templateSelection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Variability: document.outputNaming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03504" y="6355080"/>
            <a:ext cx="10058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7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ERP Reverse Platform Full Reference | docs/erp-reverse-platform/modules/platform-document.output-pipeline/module.md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149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26. Platform Primitive: Work Item Collection Shell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841248"/>
            <a:ext cx="9966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D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docs/erp-reverse-platform/modules/platform-work-item.collection-shell/module.md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1097280"/>
            <a:ext cx="1645920" cy="310896"/>
          </a:xfrm>
          <a:prstGeom prst="roundRect">
            <a:avLst>
              <a:gd name="adj" fmla="val 23529"/>
            </a:avLst>
          </a:prstGeom>
          <a:solidFill>
            <a:srgbClr val="F2E4D6"/>
          </a:solidFill>
          <a:ln w="12700">
            <a:solidFill>
              <a:srgbClr val="245D7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161288"/>
            <a:ext cx="14996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45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Platform Primitive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58368" y="1508760"/>
            <a:ext cx="2926080" cy="1920240"/>
          </a:xfrm>
          <a:prstGeom prst="roundRect">
            <a:avLst>
              <a:gd name="adj" fmla="val 3810"/>
            </a:avLst>
          </a:prstGeom>
          <a:solidFill>
            <a:srgbClr val="FFFCF8"/>
          </a:solidFill>
          <a:ln w="12700">
            <a:solidFill>
              <a:srgbClr val="245D7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636776"/>
            <a:ext cx="25968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It Is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911096"/>
            <a:ext cx="2779776" cy="1408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Provide a standard list/index shell for work items that need loading, filtering, sorting, empty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794760" y="1508760"/>
            <a:ext cx="2743200" cy="1920240"/>
          </a:xfrm>
          <a:prstGeom prst="roundRect">
            <a:avLst>
              <a:gd name="adj" fmla="val 3810"/>
            </a:avLst>
          </a:prstGeom>
          <a:solidFill>
            <a:srgbClr val="FFFCF8"/>
          </a:solidFill>
          <a:ln w="12700">
            <a:solidFill>
              <a:srgbClr val="245D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59352" y="1636776"/>
            <a:ext cx="24140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It Matters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867912" y="1911096"/>
            <a:ext cx="2596896" cy="1408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공통 cache, list, document, asset 흐름의 책임 경계를 잡아준다.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여러 module이 같은 기반을 공유할 때 중복 구현을 줄인다.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748272" y="1508760"/>
            <a:ext cx="3127248" cy="1920240"/>
          </a:xfrm>
          <a:prstGeom prst="roundRect">
            <a:avLst>
              <a:gd name="adj" fmla="val 3810"/>
            </a:avLst>
          </a:prstGeom>
          <a:solidFill>
            <a:srgbClr val="FFFCF8"/>
          </a:solidFill>
          <a:ln w="12700">
            <a:solidFill>
              <a:srgbClr val="245D7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12864" y="1636776"/>
            <a:ext cx="27980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When To Open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821424" y="1911096"/>
            <a:ext cx="2980944" cy="1408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 capability를 수정하려 할 때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하위 business module 여러 개가 같이 영향을 받을 때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58368" y="3675888"/>
            <a:ext cx="3749040" cy="2011680"/>
          </a:xfrm>
          <a:prstGeom prst="roundRect">
            <a:avLst>
              <a:gd name="adj" fmla="val 3636"/>
            </a:avLst>
          </a:prstGeom>
          <a:solidFill>
            <a:srgbClr val="FFFCF8"/>
          </a:solidFill>
          <a:ln w="12700">
            <a:solidFill>
              <a:srgbClr val="245D7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803904"/>
            <a:ext cx="34198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Sections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31520" y="4078224"/>
            <a:ext cx="3602736" cy="1499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Roles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Entry Conditions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 Model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Journeys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Contracts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17720" y="3675888"/>
            <a:ext cx="5257800" cy="2011680"/>
          </a:xfrm>
          <a:prstGeom prst="roundRect">
            <a:avLst>
              <a:gd name="adj" fmla="val 3636"/>
            </a:avLst>
          </a:prstGeom>
          <a:solidFill>
            <a:srgbClr val="FFFCF8"/>
          </a:solidFill>
          <a:ln w="12700">
            <a:solidFill>
              <a:srgbClr val="245D7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82312" y="3803904"/>
            <a:ext cx="49286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Connected Artifacts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690872" y="4078224"/>
            <a:ext cx="5111496" cy="1499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docs/erp-reverse-platform/modules/platform-work-item.collection-shell/module.manifest.json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03504" y="6355080"/>
            <a:ext cx="10058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7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ERP Reverse Platform Full Reference | docs/erp-reverse-platform/modules/platform-work-item.collection-shell/module.md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149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27. Platform Primitive: Work Item Collection Shell Deep Dive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841248"/>
            <a:ext cx="9966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D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docs/erp-reverse-platform/modules/platform-work-item.collection-shell/module.md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1097280"/>
            <a:ext cx="1783080" cy="310896"/>
          </a:xfrm>
          <a:prstGeom prst="roundRect">
            <a:avLst>
              <a:gd name="adj" fmla="val 23529"/>
            </a:avLst>
          </a:prstGeom>
          <a:solidFill>
            <a:srgbClr val="F2E4D6"/>
          </a:solidFill>
          <a:ln w="12700">
            <a:solidFill>
              <a:srgbClr val="245D7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161288"/>
            <a:ext cx="16367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45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 Deep Dive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58368" y="1481328"/>
            <a:ext cx="3017520" cy="3611880"/>
          </a:xfrm>
          <a:prstGeom prst="roundRect">
            <a:avLst>
              <a:gd name="adj" fmla="val 2424"/>
            </a:avLst>
          </a:prstGeom>
          <a:solidFill>
            <a:srgbClr val="FFFCF8"/>
          </a:solidFill>
          <a:ln w="12700">
            <a:solidFill>
              <a:srgbClr val="245D7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609344"/>
            <a:ext cx="26883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API Contracts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883664"/>
            <a:ext cx="2871216" cy="3099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 /api/safety/reports/site/{siteId}/full?limit=50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request: authenticated proxy request with site id, limit, and optional list queries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response: report list payload whose rows are normalized into the shared collection shell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877056" y="1481328"/>
            <a:ext cx="2788920" cy="3611880"/>
          </a:xfrm>
          <a:prstGeom prst="roundRect">
            <a:avLst>
              <a:gd name="adj" fmla="val 2623"/>
            </a:avLst>
          </a:prstGeom>
          <a:solidFill>
            <a:srgbClr val="FFFCF8"/>
          </a:solidFill>
          <a:ln w="12700">
            <a:solidFill>
              <a:srgbClr val="245D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41648" y="1609344"/>
            <a:ext cx="24597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Server Touchpoints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950208" y="1883664"/>
            <a:ext cx="2642616" cy="3099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app/api/safety/[...path]/route.ts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external upstream FastAPI /api/v1/reports/site/{siteId}/full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67144" y="1481328"/>
            <a:ext cx="3008376" cy="3611880"/>
          </a:xfrm>
          <a:prstGeom prst="roundRect">
            <a:avLst>
              <a:gd name="adj" fmla="val 2432"/>
            </a:avLst>
          </a:prstGeom>
          <a:solidFill>
            <a:srgbClr val="FFFCF8"/>
          </a:solidFill>
          <a:ln w="12700">
            <a:solidFill>
              <a:srgbClr val="245D7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31736" y="1609344"/>
            <a:ext cx="26791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Performance Guardrails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940296" y="1883664"/>
            <a:ext cx="2862072" cy="3099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Collection shell list fetch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target: &lt;= 8000ms, &lt;= 3000000 bytes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cache: one-shot client index cache per site with explicit force reload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invalidation: site switch, explicit reload, successful work-item create/update/delete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68096" y="5413248"/>
            <a:ext cx="90525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Invariant: Filtering and sorting act on normalized list items, not raw payloads.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Invariant: Empty/loading/error states remain distinct.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Variability: collection.columns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Variability: collection.defaultFilters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03504" y="6355080"/>
            <a:ext cx="10058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7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ERP Reverse Platform Full Reference | docs/erp-reverse-platform/modules/platform-work-item.collection-shell/module.md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149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28. Business Module: Asset Review Photo Workbench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841248"/>
            <a:ext cx="9966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D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docs/erp-reverse-platform/modules/asset-review.photo-workbench/module.md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1097280"/>
            <a:ext cx="1645920" cy="310896"/>
          </a:xfrm>
          <a:prstGeom prst="roundRect">
            <a:avLst>
              <a:gd name="adj" fmla="val 23529"/>
            </a:avLst>
          </a:prstGeom>
          <a:solidFill>
            <a:srgbClr val="F2E4D6"/>
          </a:solidFill>
          <a:ln w="12700">
            <a:solidFill>
              <a:srgbClr val="9B4A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161288"/>
            <a:ext cx="14996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B4A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Module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58368" y="1508760"/>
            <a:ext cx="2926080" cy="1920240"/>
          </a:xfrm>
          <a:prstGeom prst="roundRect">
            <a:avLst>
              <a:gd name="adj" fmla="val 3810"/>
            </a:avLst>
          </a:prstGeom>
          <a:solidFill>
            <a:srgbClr val="FFFCF8"/>
          </a:solidFill>
          <a:ln w="12700">
            <a:solidFill>
              <a:srgbClr val="9B4A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636776"/>
            <a:ext cx="25968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It Is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911096"/>
            <a:ext cx="2779776" cy="1408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Provide a review-oriented photo workbench that layers review context, bulk actions, and admin-facing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794760" y="1508760"/>
            <a:ext cx="2743200" cy="1920240"/>
          </a:xfrm>
          <a:prstGeom prst="roundRect">
            <a:avLst>
              <a:gd name="adj" fmla="val 3810"/>
            </a:avLst>
          </a:prstGeom>
          <a:solidFill>
            <a:srgbClr val="FFFCF8"/>
          </a:solidFill>
          <a:ln w="12700">
            <a:solidFill>
              <a:srgbClr val="9B4A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59352" y="1636776"/>
            <a:ext cx="24140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It Matters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867912" y="1911096"/>
            <a:ext cx="2596896" cy="1408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현재 화면명이 아니라 재사용 가능한 모듈 단위를 기준으로 본다.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API, server, performance budget까지 capability 단위로 묶는다.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748272" y="1508760"/>
            <a:ext cx="3127248" cy="1920240"/>
          </a:xfrm>
          <a:prstGeom prst="roundRect">
            <a:avLst>
              <a:gd name="adj" fmla="val 3810"/>
            </a:avLst>
          </a:prstGeom>
          <a:solidFill>
            <a:srgbClr val="FFFCF8"/>
          </a:solidFill>
          <a:ln w="12700">
            <a:solidFill>
              <a:srgbClr val="9B4A3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12864" y="1636776"/>
            <a:ext cx="27980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When To Open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821424" y="1911096"/>
            <a:ext cx="2980944" cy="1408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현재 기능을 다른 산업 ERP로 옮기려 할 때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한 기능의 핵심 workflow와 guardrail을 빠르게 파악할 때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58368" y="3675888"/>
            <a:ext cx="3749040" cy="2011680"/>
          </a:xfrm>
          <a:prstGeom prst="roundRect">
            <a:avLst>
              <a:gd name="adj" fmla="val 3636"/>
            </a:avLst>
          </a:prstGeom>
          <a:solidFill>
            <a:srgbClr val="FFFCF8"/>
          </a:solidFill>
          <a:ln w="12700">
            <a:solidFill>
              <a:srgbClr val="9B4A3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803904"/>
            <a:ext cx="34198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Sections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31520" y="4078224"/>
            <a:ext cx="3602736" cy="1499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Roles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Entry Conditions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 Model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Journeys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Contracts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17720" y="3675888"/>
            <a:ext cx="5257800" cy="2011680"/>
          </a:xfrm>
          <a:prstGeom prst="roundRect">
            <a:avLst>
              <a:gd name="adj" fmla="val 3636"/>
            </a:avLst>
          </a:prstGeom>
          <a:solidFill>
            <a:srgbClr val="FFFCF8"/>
          </a:solidFill>
          <a:ln w="12700">
            <a:solidFill>
              <a:srgbClr val="9B4A3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82312" y="3803904"/>
            <a:ext cx="49286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Connected Artifacts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690872" y="4078224"/>
            <a:ext cx="5111496" cy="1499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docs/erp-reverse-platform/modules/asset-review.photo-workbench/module.manifest.json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03504" y="6355080"/>
            <a:ext cx="10058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7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ERP Reverse Platform Full Reference | docs/erp-reverse-platform/modules/asset-review.photo-workbench/module.md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149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29. Business Module: Asset Review Photo Workbench Deep Dive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841248"/>
            <a:ext cx="9966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D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docs/erp-reverse-platform/modules/asset-review.photo-workbench/module.md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1097280"/>
            <a:ext cx="1783080" cy="310896"/>
          </a:xfrm>
          <a:prstGeom prst="roundRect">
            <a:avLst>
              <a:gd name="adj" fmla="val 23529"/>
            </a:avLst>
          </a:prstGeom>
          <a:solidFill>
            <a:srgbClr val="F2E4D6"/>
          </a:solidFill>
          <a:ln w="12700">
            <a:solidFill>
              <a:srgbClr val="9B4A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161288"/>
            <a:ext cx="16367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B4A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 Deep Dive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58368" y="1481328"/>
            <a:ext cx="3017520" cy="3611880"/>
          </a:xfrm>
          <a:prstGeom prst="roundRect">
            <a:avLst>
              <a:gd name="adj" fmla="val 2424"/>
            </a:avLst>
          </a:prstGeom>
          <a:solidFill>
            <a:srgbClr val="FFFCF8"/>
          </a:solidFill>
          <a:ln w="12700">
            <a:solidFill>
              <a:srgbClr val="9B4A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609344"/>
            <a:ext cx="26883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API Contracts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883664"/>
            <a:ext cx="2871216" cy="3099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 /api/photos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request: admin-authenticated request with admin mode, site/round context, and filter queries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response: contextual photo rows plus capabilities used by the review toolbar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 /api/photos/upload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877056" y="1481328"/>
            <a:ext cx="2788920" cy="3611880"/>
          </a:xfrm>
          <a:prstGeom prst="roundRect">
            <a:avLst>
              <a:gd name="adj" fmla="val 2623"/>
            </a:avLst>
          </a:prstGeom>
          <a:solidFill>
            <a:srgbClr val="FFFCF8"/>
          </a:solidFill>
          <a:ln w="12700">
            <a:solidFill>
              <a:srgbClr val="9B4A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41648" y="1609344"/>
            <a:ext cx="24597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Server Touchpoints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950208" y="1883664"/>
            <a:ext cx="2642616" cy="3099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app/api/photos/route.ts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app/api/photos/upload/route.ts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app/api/photos/download/route.ts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server/photos/service.ts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server/photos/album.ts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67144" y="1481328"/>
            <a:ext cx="3008376" cy="3611880"/>
          </a:xfrm>
          <a:prstGeom prst="roundRect">
            <a:avLst>
              <a:gd name="adj" fmla="val 2432"/>
            </a:avLst>
          </a:prstGeom>
          <a:solidFill>
            <a:srgbClr val="FFFCF8"/>
          </a:solidFill>
          <a:ln w="12700">
            <a:solidFill>
              <a:srgbClr val="9B4A3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31736" y="1609344"/>
            <a:ext cx="26791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Performance Guardrails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940296" y="1883664"/>
            <a:ext cx="2862072" cy="3099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photo list fetch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target: &lt;= 3000ms, &lt;= 1500000 bytes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cache: list state stays query-scoped; refresh in place instead of remounting the review shell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invalidation: upload, asset mutation, route-context change, explicit reload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photo upload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68096" y="5413248"/>
            <a:ext cx="90525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Invariant: Admin wrapper must preserve site/round context for the shared asset pipeline.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Invariant: Bulk actions operate on normalized selected assets.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Variability: Allowed changes are review flags, photo taxonomies, and bulk-download naming.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03504" y="6355080"/>
            <a:ext cx="10058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7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ERP Reverse Platform Full Reference | docs/erp-reverse-platform/modules/asset-review.photo-workbench/module.md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149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30. Business Module: Document Output Export And Reuse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841248"/>
            <a:ext cx="9966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D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docs/erp-reverse-platform/modules/document-output.export-and-reuse/module.md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1097280"/>
            <a:ext cx="1645920" cy="310896"/>
          </a:xfrm>
          <a:prstGeom prst="roundRect">
            <a:avLst>
              <a:gd name="adj" fmla="val 23529"/>
            </a:avLst>
          </a:prstGeom>
          <a:solidFill>
            <a:srgbClr val="F2E4D6"/>
          </a:solidFill>
          <a:ln w="12700">
            <a:solidFill>
              <a:srgbClr val="9B4A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161288"/>
            <a:ext cx="14996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B4A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Module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58368" y="1508760"/>
            <a:ext cx="2926080" cy="1920240"/>
          </a:xfrm>
          <a:prstGeom prst="roundRect">
            <a:avLst>
              <a:gd name="adj" fmla="val 3810"/>
            </a:avLst>
          </a:prstGeom>
          <a:solidFill>
            <a:srgbClr val="FFFCF8"/>
          </a:solidFill>
          <a:ln w="12700">
            <a:solidFill>
              <a:srgbClr val="9B4A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636776"/>
            <a:ext cx="25968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It Is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911096"/>
            <a:ext cx="2779776" cy="1408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Provide a business-facing document action surface that exports the latest saved state and reuses the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794760" y="1508760"/>
            <a:ext cx="2743200" cy="1920240"/>
          </a:xfrm>
          <a:prstGeom prst="roundRect">
            <a:avLst>
              <a:gd name="adj" fmla="val 3810"/>
            </a:avLst>
          </a:prstGeom>
          <a:solidFill>
            <a:srgbClr val="FFFCF8"/>
          </a:solidFill>
          <a:ln w="12700">
            <a:solidFill>
              <a:srgbClr val="9B4A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59352" y="1636776"/>
            <a:ext cx="24140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It Matters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867912" y="1911096"/>
            <a:ext cx="2596896" cy="1408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현재 화면명이 아니라 재사용 가능한 모듈 단위를 기준으로 본다.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API, server, performance budget까지 capability 단위로 묶는다.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748272" y="1508760"/>
            <a:ext cx="3127248" cy="1920240"/>
          </a:xfrm>
          <a:prstGeom prst="roundRect">
            <a:avLst>
              <a:gd name="adj" fmla="val 3810"/>
            </a:avLst>
          </a:prstGeom>
          <a:solidFill>
            <a:srgbClr val="FFFCF8"/>
          </a:solidFill>
          <a:ln w="12700">
            <a:solidFill>
              <a:srgbClr val="9B4A3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12864" y="1636776"/>
            <a:ext cx="27980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When To Open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821424" y="1911096"/>
            <a:ext cx="2980944" cy="1408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현재 기능을 다른 산업 ERP로 옮기려 할 때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한 기능의 핵심 workflow와 guardrail을 빠르게 파악할 때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58368" y="3675888"/>
            <a:ext cx="3749040" cy="2011680"/>
          </a:xfrm>
          <a:prstGeom prst="roundRect">
            <a:avLst>
              <a:gd name="adj" fmla="val 3636"/>
            </a:avLst>
          </a:prstGeom>
          <a:solidFill>
            <a:srgbClr val="FFFCF8"/>
          </a:solidFill>
          <a:ln w="12700">
            <a:solidFill>
              <a:srgbClr val="9B4A3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803904"/>
            <a:ext cx="34198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Sections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31520" y="4078224"/>
            <a:ext cx="3602736" cy="1499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Roles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Entry Conditions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 Model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Journeys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Contracts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17720" y="3675888"/>
            <a:ext cx="5257800" cy="2011680"/>
          </a:xfrm>
          <a:prstGeom prst="roundRect">
            <a:avLst>
              <a:gd name="adj" fmla="val 3636"/>
            </a:avLst>
          </a:prstGeom>
          <a:solidFill>
            <a:srgbClr val="FFFCF8"/>
          </a:solidFill>
          <a:ln w="12700">
            <a:solidFill>
              <a:srgbClr val="9B4A3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82312" y="3803904"/>
            <a:ext cx="49286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Connected Artifacts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690872" y="4078224"/>
            <a:ext cx="5111496" cy="1499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docs/erp-reverse-platform/modules/document-output.export-and-reuse/module.manifest.json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03504" y="6355080"/>
            <a:ext cx="10058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7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ERP Reverse Platform Full Reference | docs/erp-reverse-platform/modules/document-output.export-and-reuse/module.md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149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31. Business Module: Document Output Export And Reuse Deep Dive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841248"/>
            <a:ext cx="9966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D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docs/erp-reverse-platform/modules/document-output.export-and-reuse/module.md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1097280"/>
            <a:ext cx="1783080" cy="310896"/>
          </a:xfrm>
          <a:prstGeom prst="roundRect">
            <a:avLst>
              <a:gd name="adj" fmla="val 23529"/>
            </a:avLst>
          </a:prstGeom>
          <a:solidFill>
            <a:srgbClr val="F2E4D6"/>
          </a:solidFill>
          <a:ln w="12700">
            <a:solidFill>
              <a:srgbClr val="9B4A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161288"/>
            <a:ext cx="16367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B4A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 Deep Dive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58368" y="1481328"/>
            <a:ext cx="3017520" cy="3611880"/>
          </a:xfrm>
          <a:prstGeom prst="roundRect">
            <a:avLst>
              <a:gd name="adj" fmla="val 2424"/>
            </a:avLst>
          </a:prstGeom>
          <a:solidFill>
            <a:srgbClr val="FFFCF8"/>
          </a:solidFill>
          <a:ln w="12700">
            <a:solidFill>
              <a:srgbClr val="9B4A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609344"/>
            <a:ext cx="26883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API Contracts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883664"/>
            <a:ext cx="2871216" cy="3099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 /api/documents/quarterly/hwpx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request: report body plus site/context resolved from the current quarterly draft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response: generated HWPX blob and filename metadata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 /api/documents/quarterly/pdf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877056" y="1481328"/>
            <a:ext cx="2788920" cy="3611880"/>
          </a:xfrm>
          <a:prstGeom prst="roundRect">
            <a:avLst>
              <a:gd name="adj" fmla="val 2623"/>
            </a:avLst>
          </a:prstGeom>
          <a:solidFill>
            <a:srgbClr val="FFFCF8"/>
          </a:solidFill>
          <a:ln w="12700">
            <a:solidFill>
              <a:srgbClr val="9B4A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41648" y="1609344"/>
            <a:ext cx="24597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Server Touchpoints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950208" y="1883664"/>
            <a:ext cx="2642616" cy="3099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app/api/documents/quarterly/hwpx/route.ts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app/api/documents/quarterly/pdf/route.ts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server/documents/quarterly/requestResolver.ts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server/documents/quarterly/hwpx.ts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67144" y="1481328"/>
            <a:ext cx="3008376" cy="3611880"/>
          </a:xfrm>
          <a:prstGeom prst="roundRect">
            <a:avLst>
              <a:gd name="adj" fmla="val 2432"/>
            </a:avLst>
          </a:prstGeom>
          <a:solidFill>
            <a:srgbClr val="FFFCF8"/>
          </a:solidFill>
          <a:ln w="12700">
            <a:solidFill>
              <a:srgbClr val="9B4A3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31736" y="1609344"/>
            <a:ext cx="26791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Performance Guardrails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940296" y="1883664"/>
            <a:ext cx="2862072" cy="3099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HWPX generation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target: &lt;= 12000ms, &lt;= 8000000 bytes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cache: reuse persisted draft state; do not rerender against stale in-memory form data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invalidation: save-before-export, template change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PDF generation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68096" y="5413248"/>
            <a:ext cx="90525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Invariant: Export always follows the latest successful persistence step.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Invariant: Existing output artifacts remain user-visible and reusable.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Variability: Allowed changes are template selection, output naming, and approval-stamp rules.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03504" y="6355080"/>
            <a:ext cx="10058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7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ERP Reverse Platform Full Reference | docs/erp-reverse-platform/modules/document-output.export-and-reuse/module.md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149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32. Business Module: Operations Dashboard Analytics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841248"/>
            <a:ext cx="9966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D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docs/erp-reverse-platform/modules/operations-dashboard.analytics/module.md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1097280"/>
            <a:ext cx="1645920" cy="310896"/>
          </a:xfrm>
          <a:prstGeom prst="roundRect">
            <a:avLst>
              <a:gd name="adj" fmla="val 23529"/>
            </a:avLst>
          </a:prstGeom>
          <a:solidFill>
            <a:srgbClr val="F2E4D6"/>
          </a:solidFill>
          <a:ln w="12700">
            <a:solidFill>
              <a:srgbClr val="9B4A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161288"/>
            <a:ext cx="14996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B4A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Module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58368" y="1508760"/>
            <a:ext cx="2926080" cy="1920240"/>
          </a:xfrm>
          <a:prstGeom prst="roundRect">
            <a:avLst>
              <a:gd name="adj" fmla="val 3810"/>
            </a:avLst>
          </a:prstGeom>
          <a:solidFill>
            <a:srgbClr val="FFFCF8"/>
          </a:solidFill>
          <a:ln w="12700">
            <a:solidFill>
              <a:srgbClr val="9B4A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636776"/>
            <a:ext cx="25968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It Is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911096"/>
            <a:ext cx="2779776" cy="1408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Expose summary and detail analytics with basis-period switching while preserving a stable visible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794760" y="1508760"/>
            <a:ext cx="2743200" cy="1920240"/>
          </a:xfrm>
          <a:prstGeom prst="roundRect">
            <a:avLst>
              <a:gd name="adj" fmla="val 3810"/>
            </a:avLst>
          </a:prstGeom>
          <a:solidFill>
            <a:srgbClr val="FFFCF8"/>
          </a:solidFill>
          <a:ln w="12700">
            <a:solidFill>
              <a:srgbClr val="9B4A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59352" y="1636776"/>
            <a:ext cx="24140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It Matters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867912" y="1911096"/>
            <a:ext cx="2596896" cy="1408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현재 화면명이 아니라 재사용 가능한 모듈 단위를 기준으로 본다.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API, server, performance budget까지 capability 단위로 묶는다.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748272" y="1508760"/>
            <a:ext cx="3127248" cy="1920240"/>
          </a:xfrm>
          <a:prstGeom prst="roundRect">
            <a:avLst>
              <a:gd name="adj" fmla="val 3810"/>
            </a:avLst>
          </a:prstGeom>
          <a:solidFill>
            <a:srgbClr val="FFFCF8"/>
          </a:solidFill>
          <a:ln w="12700">
            <a:solidFill>
              <a:srgbClr val="9B4A3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12864" y="1636776"/>
            <a:ext cx="27980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When To Open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821424" y="1911096"/>
            <a:ext cx="2980944" cy="1408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현재 기능을 다른 산업 ERP로 옮기려 할 때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한 기능의 핵심 workflow와 guardrail을 빠르게 파악할 때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58368" y="3675888"/>
            <a:ext cx="3749040" cy="2011680"/>
          </a:xfrm>
          <a:prstGeom prst="roundRect">
            <a:avLst>
              <a:gd name="adj" fmla="val 3636"/>
            </a:avLst>
          </a:prstGeom>
          <a:solidFill>
            <a:srgbClr val="FFFCF8"/>
          </a:solidFill>
          <a:ln w="12700">
            <a:solidFill>
              <a:srgbClr val="9B4A3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803904"/>
            <a:ext cx="34198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Sections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31520" y="4078224"/>
            <a:ext cx="3602736" cy="1499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Roles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Entry Conditions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 Model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Journeys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Contracts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17720" y="3675888"/>
            <a:ext cx="5257800" cy="2011680"/>
          </a:xfrm>
          <a:prstGeom prst="roundRect">
            <a:avLst>
              <a:gd name="adj" fmla="val 3636"/>
            </a:avLst>
          </a:prstGeom>
          <a:solidFill>
            <a:srgbClr val="FFFCF8"/>
          </a:solidFill>
          <a:ln w="12700">
            <a:solidFill>
              <a:srgbClr val="9B4A3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82312" y="3803904"/>
            <a:ext cx="49286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Connected Artifacts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690872" y="4078224"/>
            <a:ext cx="5111496" cy="1499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docs/erp-reverse-platform/modules/operations-dashboard.analytics/module.manifest.json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03504" y="6355080"/>
            <a:ext cx="10058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7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ERP Reverse Platform Full Reference | docs/erp-reverse-platform/modules/operations-dashboard.analytics/module.md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149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33. Business Module: Operations Dashboard Analytics Deep Dive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841248"/>
            <a:ext cx="9966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D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docs/erp-reverse-platform/modules/operations-dashboard.analytics/module.md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1097280"/>
            <a:ext cx="1783080" cy="310896"/>
          </a:xfrm>
          <a:prstGeom prst="roundRect">
            <a:avLst>
              <a:gd name="adj" fmla="val 23529"/>
            </a:avLst>
          </a:prstGeom>
          <a:solidFill>
            <a:srgbClr val="F2E4D6"/>
          </a:solidFill>
          <a:ln w="12700">
            <a:solidFill>
              <a:srgbClr val="9B4A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161288"/>
            <a:ext cx="16367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B4A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 Deep Dive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58368" y="1481328"/>
            <a:ext cx="3017520" cy="3611880"/>
          </a:xfrm>
          <a:prstGeom prst="roundRect">
            <a:avLst>
              <a:gd name="adj" fmla="val 2424"/>
            </a:avLst>
          </a:prstGeom>
          <a:solidFill>
            <a:srgbClr val="FFFCF8"/>
          </a:solidFill>
          <a:ln w="12700">
            <a:solidFill>
              <a:srgbClr val="9B4A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609344"/>
            <a:ext cx="26883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API Contracts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883664"/>
            <a:ext cx="2871216" cy="3099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 /api/admin/dashboard/analytics?period=month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request: admin-authenticated request with period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response: analytics summary cards and period metadata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 /api/admin/dashboard/analytics/month-detail?period=month&amp;basis_month=YYYY-MM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877056" y="1481328"/>
            <a:ext cx="2788920" cy="3611880"/>
          </a:xfrm>
          <a:prstGeom prst="roundRect">
            <a:avLst>
              <a:gd name="adj" fmla="val 2623"/>
            </a:avLst>
          </a:prstGeom>
          <a:solidFill>
            <a:srgbClr val="FFFCF8"/>
          </a:solidFill>
          <a:ln w="12700">
            <a:solidFill>
              <a:srgbClr val="9B4A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41648" y="1609344"/>
            <a:ext cx="24597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Server Touchpoints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950208" y="1883664"/>
            <a:ext cx="2642616" cy="3099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app/api/admin/dashboard/analytics/route.ts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app/api/admin/dashboard/analytics/month-detail/route.ts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app/api/admin/dashboard/analytics/detail/route.ts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server/admin/analyticsSnapshot.ts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67144" y="1481328"/>
            <a:ext cx="3008376" cy="3611880"/>
          </a:xfrm>
          <a:prstGeom prst="roundRect">
            <a:avLst>
              <a:gd name="adj" fmla="val 2432"/>
            </a:avLst>
          </a:prstGeom>
          <a:solidFill>
            <a:srgbClr val="FFFCF8"/>
          </a:solidFill>
          <a:ln w="12700">
            <a:solidFill>
              <a:srgbClr val="9B4A3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31736" y="1609344"/>
            <a:ext cx="26791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Performance Guardrails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940296" y="1883664"/>
            <a:ext cx="2862072" cy="3099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Analytics summary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target: &lt;= 1500ms, &lt;= 1000000 bytes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cache: summary request cached independently from detail requests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invalidation: basis period change that affects summary scope, explicit analytics refresh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Analytics month detail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68096" y="5413248"/>
            <a:ext cx="90525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Invariant: Summary and detail requests remain independently cacheable.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Invariant: Period switching does not blank the prior compatible dataset during refresh.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Variability: Allowed changes are KPI cards, period labels, and detail column sets.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Variability: The summary/detail split and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03504" y="6355080"/>
            <a:ext cx="10058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7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ERP Reverse Platform Full Reference | docs/erp-reverse-platform/modules/operations-dashboard.analytics/module.md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149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34. Business Module: Operations Dashboard Queue Overview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841248"/>
            <a:ext cx="9966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D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docs/erp-reverse-platform/modules/operations-dashboard.queue-overview/module.md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1097280"/>
            <a:ext cx="1645920" cy="310896"/>
          </a:xfrm>
          <a:prstGeom prst="roundRect">
            <a:avLst>
              <a:gd name="adj" fmla="val 23529"/>
            </a:avLst>
          </a:prstGeom>
          <a:solidFill>
            <a:srgbClr val="F2E4D6"/>
          </a:solidFill>
          <a:ln w="12700">
            <a:solidFill>
              <a:srgbClr val="9B4A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161288"/>
            <a:ext cx="14996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B4A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Module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58368" y="1508760"/>
            <a:ext cx="2926080" cy="1920240"/>
          </a:xfrm>
          <a:prstGeom prst="roundRect">
            <a:avLst>
              <a:gd name="adj" fmla="val 3810"/>
            </a:avLst>
          </a:prstGeom>
          <a:solidFill>
            <a:srgbClr val="FFFCF8"/>
          </a:solidFill>
          <a:ln w="12700">
            <a:solidFill>
              <a:srgbClr val="9B4A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636776"/>
            <a:ext cx="25968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It Is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911096"/>
            <a:ext cx="2779776" cy="1408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Expose a queue-oriented operations overview that merges remote snapshots with local fallback state and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794760" y="1508760"/>
            <a:ext cx="2743200" cy="1920240"/>
          </a:xfrm>
          <a:prstGeom prst="roundRect">
            <a:avLst>
              <a:gd name="adj" fmla="val 3810"/>
            </a:avLst>
          </a:prstGeom>
          <a:solidFill>
            <a:srgbClr val="FFFCF8"/>
          </a:solidFill>
          <a:ln w="12700">
            <a:solidFill>
              <a:srgbClr val="9B4A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59352" y="1636776"/>
            <a:ext cx="24140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It Matters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867912" y="1911096"/>
            <a:ext cx="2596896" cy="1408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현재 화면명이 아니라 재사용 가능한 모듈 단위를 기준으로 본다.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API, server, performance budget까지 capability 단위로 묶는다.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748272" y="1508760"/>
            <a:ext cx="3127248" cy="1920240"/>
          </a:xfrm>
          <a:prstGeom prst="roundRect">
            <a:avLst>
              <a:gd name="adj" fmla="val 3810"/>
            </a:avLst>
          </a:prstGeom>
          <a:solidFill>
            <a:srgbClr val="FFFCF8"/>
          </a:solidFill>
          <a:ln w="12700">
            <a:solidFill>
              <a:srgbClr val="9B4A3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12864" y="1636776"/>
            <a:ext cx="27980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When To Open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821424" y="1911096"/>
            <a:ext cx="2980944" cy="1408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현재 기능을 다른 산업 ERP로 옮기려 할 때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한 기능의 핵심 workflow와 guardrail을 빠르게 파악할 때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58368" y="3675888"/>
            <a:ext cx="3749040" cy="2011680"/>
          </a:xfrm>
          <a:prstGeom prst="roundRect">
            <a:avLst>
              <a:gd name="adj" fmla="val 3636"/>
            </a:avLst>
          </a:prstGeom>
          <a:solidFill>
            <a:srgbClr val="FFFCF8"/>
          </a:solidFill>
          <a:ln w="12700">
            <a:solidFill>
              <a:srgbClr val="9B4A3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803904"/>
            <a:ext cx="34198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Sections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31520" y="4078224"/>
            <a:ext cx="3602736" cy="1499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Roles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Entry Conditions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 Model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Journeys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Contracts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17720" y="3675888"/>
            <a:ext cx="5257800" cy="2011680"/>
          </a:xfrm>
          <a:prstGeom prst="roundRect">
            <a:avLst>
              <a:gd name="adj" fmla="val 3636"/>
            </a:avLst>
          </a:prstGeom>
          <a:solidFill>
            <a:srgbClr val="FFFCF8"/>
          </a:solidFill>
          <a:ln w="12700">
            <a:solidFill>
              <a:srgbClr val="9B4A3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82312" y="3803904"/>
            <a:ext cx="49286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Connected Artifacts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690872" y="4078224"/>
            <a:ext cx="5111496" cy="1499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docs/erp-reverse-platform/modules/operations-dashboard.queue-overview/module.manifest.json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03504" y="6355080"/>
            <a:ext cx="10058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7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ERP Reverse Platform Full Reference | docs/erp-reverse-platform/modules/operations-dashboard.queue-overview/module.md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149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35. Business Module: Operations Dashboard Queue Overview Deep Dive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841248"/>
            <a:ext cx="9966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D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docs/erp-reverse-platform/modules/operations-dashboard.queue-overview/module.md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1097280"/>
            <a:ext cx="1783080" cy="310896"/>
          </a:xfrm>
          <a:prstGeom prst="roundRect">
            <a:avLst>
              <a:gd name="adj" fmla="val 23529"/>
            </a:avLst>
          </a:prstGeom>
          <a:solidFill>
            <a:srgbClr val="F2E4D6"/>
          </a:solidFill>
          <a:ln w="12700">
            <a:solidFill>
              <a:srgbClr val="9B4A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161288"/>
            <a:ext cx="16367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B4A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 Deep Dive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58368" y="1481328"/>
            <a:ext cx="3017520" cy="3611880"/>
          </a:xfrm>
          <a:prstGeom prst="roundRect">
            <a:avLst>
              <a:gd name="adj" fmla="val 2424"/>
            </a:avLst>
          </a:prstGeom>
          <a:solidFill>
            <a:srgbClr val="FFFCF8"/>
          </a:solidFill>
          <a:ln w="12700">
            <a:solidFill>
              <a:srgbClr val="9B4A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609344"/>
            <a:ext cx="26883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API Contracts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883664"/>
            <a:ext cx="2871216" cy="3099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 /api/admin/dashboard/overview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request: admin-authenticated request, no body, optional cached session bootstrap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response: SafetyAdminOverviewResponse-style overview payload normalized into queue cards and rows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877056" y="1481328"/>
            <a:ext cx="2788920" cy="3611880"/>
          </a:xfrm>
          <a:prstGeom prst="roundRect">
            <a:avLst>
              <a:gd name="adj" fmla="val 2623"/>
            </a:avLst>
          </a:prstGeom>
          <a:solidFill>
            <a:srgbClr val="FFFCF8"/>
          </a:solidFill>
          <a:ln w="12700">
            <a:solidFill>
              <a:srgbClr val="9B4A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41648" y="1609344"/>
            <a:ext cx="24597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Server Touchpoints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950208" y="1883664"/>
            <a:ext cx="2642616" cy="3099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app/api/admin/dashboard/overview/route.ts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app/api/admin/dashboard/overview/routeFallbacks.ts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server/admin/overviewPolicyOverlay.ts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server/admin/overviewRouteCache.ts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67144" y="1481328"/>
            <a:ext cx="3008376" cy="3611880"/>
          </a:xfrm>
          <a:prstGeom prst="roundRect">
            <a:avLst>
              <a:gd name="adj" fmla="val 2432"/>
            </a:avLst>
          </a:prstGeom>
          <a:solidFill>
            <a:srgbClr val="FFFCF8"/>
          </a:solidFill>
          <a:ln w="12700">
            <a:solidFill>
              <a:srgbClr val="9B4A3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31736" y="1609344"/>
            <a:ext cx="26791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Performance Guardrails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940296" y="1883664"/>
            <a:ext cx="2862072" cy="3099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Overview queue snapshot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target: &lt;= 7000ms, &lt;= 2500000 bytes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cache: admin session cache and normalized overview snapshot reuse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invalidation: report dispatch/save, site changes, assignment changes, explicit overview refresh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68096" y="5413248"/>
            <a:ext cx="90525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Invariant: Refresh merges per section instead of replacing the whole overview blindly.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Invariant: Export reflects the currently visible normalized rows.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Variability: Allowed changes are queue definitions, per-card metrics, and escalation labels.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Variability: The overall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03504" y="6355080"/>
            <a:ext cx="10058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7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ERP Reverse Platform Full Reference | docs/erp-reverse-platform/modules/operations-dashboard.queue-overview/module.md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149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36. Business Module: Periodic Report Source Sync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841248"/>
            <a:ext cx="9966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D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docs/erp-reverse-platform/modules/periodic-report.source-sync/module.md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1097280"/>
            <a:ext cx="1645920" cy="310896"/>
          </a:xfrm>
          <a:prstGeom prst="roundRect">
            <a:avLst>
              <a:gd name="adj" fmla="val 23529"/>
            </a:avLst>
          </a:prstGeom>
          <a:solidFill>
            <a:srgbClr val="F2E4D6"/>
          </a:solidFill>
          <a:ln w="12700">
            <a:solidFill>
              <a:srgbClr val="9B4A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161288"/>
            <a:ext cx="14996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B4A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Module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58368" y="1508760"/>
            <a:ext cx="2926080" cy="1920240"/>
          </a:xfrm>
          <a:prstGeom prst="roundRect">
            <a:avLst>
              <a:gd name="adj" fmla="val 3810"/>
            </a:avLst>
          </a:prstGeom>
          <a:solidFill>
            <a:srgbClr val="FFFCF8"/>
          </a:solidFill>
          <a:ln w="12700">
            <a:solidFill>
              <a:srgbClr val="9B4A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636776"/>
            <a:ext cx="25968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It Is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911096"/>
            <a:ext cx="2779776" cy="1408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Synchronize a periodic-report editor with source documents, previous reports, and recalculated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794760" y="1508760"/>
            <a:ext cx="2743200" cy="1920240"/>
          </a:xfrm>
          <a:prstGeom prst="roundRect">
            <a:avLst>
              <a:gd name="adj" fmla="val 3810"/>
            </a:avLst>
          </a:prstGeom>
          <a:solidFill>
            <a:srgbClr val="FFFCF8"/>
          </a:solidFill>
          <a:ln w="12700">
            <a:solidFill>
              <a:srgbClr val="9B4A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59352" y="1636776"/>
            <a:ext cx="24140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It Matters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867912" y="1911096"/>
            <a:ext cx="2596896" cy="1408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현재 화면명이 아니라 재사용 가능한 모듈 단위를 기준으로 본다.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API, server, performance budget까지 capability 단위로 묶는다.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748272" y="1508760"/>
            <a:ext cx="3127248" cy="1920240"/>
          </a:xfrm>
          <a:prstGeom prst="roundRect">
            <a:avLst>
              <a:gd name="adj" fmla="val 3810"/>
            </a:avLst>
          </a:prstGeom>
          <a:solidFill>
            <a:srgbClr val="FFFCF8"/>
          </a:solidFill>
          <a:ln w="12700">
            <a:solidFill>
              <a:srgbClr val="9B4A3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12864" y="1636776"/>
            <a:ext cx="27980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When To Open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821424" y="1911096"/>
            <a:ext cx="2980944" cy="1408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현재 기능을 다른 산업 ERP로 옮기려 할 때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한 기능의 핵심 workflow와 guardrail을 빠르게 파악할 때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58368" y="3675888"/>
            <a:ext cx="3749040" cy="2011680"/>
          </a:xfrm>
          <a:prstGeom prst="roundRect">
            <a:avLst>
              <a:gd name="adj" fmla="val 3636"/>
            </a:avLst>
          </a:prstGeom>
          <a:solidFill>
            <a:srgbClr val="FFFCF8"/>
          </a:solidFill>
          <a:ln w="12700">
            <a:solidFill>
              <a:srgbClr val="9B4A3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803904"/>
            <a:ext cx="34198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Sections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31520" y="4078224"/>
            <a:ext cx="3602736" cy="1499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Roles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Entry Conditions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 Model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Journeys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Contracts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17720" y="3675888"/>
            <a:ext cx="5257800" cy="2011680"/>
          </a:xfrm>
          <a:prstGeom prst="roundRect">
            <a:avLst>
              <a:gd name="adj" fmla="val 3636"/>
            </a:avLst>
          </a:prstGeom>
          <a:solidFill>
            <a:srgbClr val="FFFCF8"/>
          </a:solidFill>
          <a:ln w="12700">
            <a:solidFill>
              <a:srgbClr val="9B4A3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82312" y="3803904"/>
            <a:ext cx="49286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Connected Artifacts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690872" y="4078224"/>
            <a:ext cx="5111496" cy="1499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docs/erp-reverse-platform/modules/periodic-report.source-sync/module.manifest.json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03504" y="6355080"/>
            <a:ext cx="10058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7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ERP Reverse Platform Full Reference | docs/erp-reverse-platform/modules/periodic-report.source-sync/module.md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149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37. Business Module: Periodic Report Source Sync Deep Dive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841248"/>
            <a:ext cx="9966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D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docs/erp-reverse-platform/modules/periodic-report.source-sync/module.md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1097280"/>
            <a:ext cx="1783080" cy="310896"/>
          </a:xfrm>
          <a:prstGeom prst="roundRect">
            <a:avLst>
              <a:gd name="adj" fmla="val 23529"/>
            </a:avLst>
          </a:prstGeom>
          <a:solidFill>
            <a:srgbClr val="F2E4D6"/>
          </a:solidFill>
          <a:ln w="12700">
            <a:solidFill>
              <a:srgbClr val="9B4A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161288"/>
            <a:ext cx="16367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B4A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 Deep Dive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58368" y="1481328"/>
            <a:ext cx="3017520" cy="3611880"/>
          </a:xfrm>
          <a:prstGeom prst="roundRect">
            <a:avLst>
              <a:gd name="adj" fmla="val 2424"/>
            </a:avLst>
          </a:prstGeom>
          <a:solidFill>
            <a:srgbClr val="FFFCF8"/>
          </a:solidFill>
          <a:ln w="12700">
            <a:solidFill>
              <a:srgbClr val="9B4A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609344"/>
            <a:ext cx="26883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API Contracts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883664"/>
            <a:ext cx="2871216" cy="3099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 /api/safety/reports/by-key/{reportKey}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request: authenticated proxy request with reportKey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response: existing report payload or 404, which is interpreted as draft creation seed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 /api/safety/reports/site/{siteId}/quarterly-summary-seed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877056" y="1481328"/>
            <a:ext cx="2788920" cy="3611880"/>
          </a:xfrm>
          <a:prstGeom prst="roundRect">
            <a:avLst>
              <a:gd name="adj" fmla="val 2623"/>
            </a:avLst>
          </a:prstGeom>
          <a:solidFill>
            <a:srgbClr val="FFFCF8"/>
          </a:solidFill>
          <a:ln w="12700">
            <a:solidFill>
              <a:srgbClr val="9B4A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41648" y="1609344"/>
            <a:ext cx="24597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Server Touchpoints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950208" y="1883664"/>
            <a:ext cx="2642616" cy="3099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app/api/safety/[...path]/route.ts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external upstream FastAPI /api/v1/reports/by-key/{reportKey}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external upstream FastAPI /api/v1/reports/site/{siteId}/quarterly-summary-seed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67144" y="1481328"/>
            <a:ext cx="3008376" cy="3611880"/>
          </a:xfrm>
          <a:prstGeom prst="roundRect">
            <a:avLst>
              <a:gd name="adj" fmla="val 2432"/>
            </a:avLst>
          </a:prstGeom>
          <a:solidFill>
            <a:srgbClr val="FFFCF8"/>
          </a:solidFill>
          <a:ln w="12700">
            <a:solidFill>
              <a:srgbClr val="9B4A3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31736" y="1609344"/>
            <a:ext cx="26791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Performance Guardrails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940296" y="1883664"/>
            <a:ext cx="2862072" cy="3099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Quarterly report lookup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target: &lt;= 2500ms, &lt;= 1500000 bytes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cache: editor bootstraps from existing report when available and keeps draft on 404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invalidation: route-key change, save of the same report, auth or site context reset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Quarterly summary seed recalculation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68096" y="5413248"/>
            <a:ext cx="90525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Invariant: Source selection and editor hydration stay synchronized.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Invariant: Recalculation uses normalized source data rather than piecemeal field patches.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Variability: Allowed changes are report period labels, source precedence rules, and field mapping policies.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03504" y="6355080"/>
            <a:ext cx="10058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7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ERP Reverse Platform Full Reference | docs/erp-reverse-platform/modules/periodic-report.source-sync/module.md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149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38. Business Module: Work Item Create Dialog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841248"/>
            <a:ext cx="9966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D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docs/erp-reverse-platform/modules/work-item.create-dialog/module.md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1097280"/>
            <a:ext cx="1645920" cy="310896"/>
          </a:xfrm>
          <a:prstGeom prst="roundRect">
            <a:avLst>
              <a:gd name="adj" fmla="val 23529"/>
            </a:avLst>
          </a:prstGeom>
          <a:solidFill>
            <a:srgbClr val="F2E4D6"/>
          </a:solidFill>
          <a:ln w="12700">
            <a:solidFill>
              <a:srgbClr val="9B4A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161288"/>
            <a:ext cx="14996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B4A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Module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58368" y="1508760"/>
            <a:ext cx="2926080" cy="1920240"/>
          </a:xfrm>
          <a:prstGeom prst="roundRect">
            <a:avLst>
              <a:gd name="adj" fmla="val 3810"/>
            </a:avLst>
          </a:prstGeom>
          <a:solidFill>
            <a:srgbClr val="FFFCF8"/>
          </a:solidFill>
          <a:ln w="12700">
            <a:solidFill>
              <a:srgbClr val="9B4A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636776"/>
            <a:ext cx="25968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It Is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911096"/>
            <a:ext cx="2779776" cy="1408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Provide a typed creation entry dialog that validates creation prerequisites and hands the user off to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794760" y="1508760"/>
            <a:ext cx="2743200" cy="1920240"/>
          </a:xfrm>
          <a:prstGeom prst="roundRect">
            <a:avLst>
              <a:gd name="adj" fmla="val 3810"/>
            </a:avLst>
          </a:prstGeom>
          <a:solidFill>
            <a:srgbClr val="FFFCF8"/>
          </a:solidFill>
          <a:ln w="12700">
            <a:solidFill>
              <a:srgbClr val="9B4A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59352" y="1636776"/>
            <a:ext cx="24140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It Matters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867912" y="1911096"/>
            <a:ext cx="2596896" cy="1408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현재 화면명이 아니라 재사용 가능한 모듈 단위를 기준으로 본다.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API, server, performance budget까지 capability 단위로 묶는다.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748272" y="1508760"/>
            <a:ext cx="3127248" cy="1920240"/>
          </a:xfrm>
          <a:prstGeom prst="roundRect">
            <a:avLst>
              <a:gd name="adj" fmla="val 3810"/>
            </a:avLst>
          </a:prstGeom>
          <a:solidFill>
            <a:srgbClr val="FFFCF8"/>
          </a:solidFill>
          <a:ln w="12700">
            <a:solidFill>
              <a:srgbClr val="9B4A3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12864" y="1636776"/>
            <a:ext cx="27980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When To Open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821424" y="1911096"/>
            <a:ext cx="2980944" cy="1408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현재 기능을 다른 산업 ERP로 옮기려 할 때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한 기능의 핵심 workflow와 guardrail을 빠르게 파악할 때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58368" y="3675888"/>
            <a:ext cx="3749040" cy="2011680"/>
          </a:xfrm>
          <a:prstGeom prst="roundRect">
            <a:avLst>
              <a:gd name="adj" fmla="val 3636"/>
            </a:avLst>
          </a:prstGeom>
          <a:solidFill>
            <a:srgbClr val="FFFCF8"/>
          </a:solidFill>
          <a:ln w="12700">
            <a:solidFill>
              <a:srgbClr val="9B4A3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803904"/>
            <a:ext cx="34198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Sections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31520" y="4078224"/>
            <a:ext cx="3602736" cy="1499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Roles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Entry Conditions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 Model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Journeys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Contracts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17720" y="3675888"/>
            <a:ext cx="5257800" cy="2011680"/>
          </a:xfrm>
          <a:prstGeom prst="roundRect">
            <a:avLst>
              <a:gd name="adj" fmla="val 3636"/>
            </a:avLst>
          </a:prstGeom>
          <a:solidFill>
            <a:srgbClr val="FFFCF8"/>
          </a:solidFill>
          <a:ln w="12700">
            <a:solidFill>
              <a:srgbClr val="9B4A3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82312" y="3803904"/>
            <a:ext cx="49286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Connected Artifacts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690872" y="4078224"/>
            <a:ext cx="5111496" cy="1499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docs/erp-reverse-platform/modules/work-item.create-dialog/module.manifest.json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03504" y="6355080"/>
            <a:ext cx="10058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7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ERP Reverse Platform Full Reference | docs/erp-reverse-platform/modules/work-item.create-dialog/module.md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149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39. Business Module: Work Item Create Dialog Deep Dive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841248"/>
            <a:ext cx="9966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D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docs/erp-reverse-platform/modules/work-item.create-dialog/module.md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1097280"/>
            <a:ext cx="1783080" cy="310896"/>
          </a:xfrm>
          <a:prstGeom prst="roundRect">
            <a:avLst>
              <a:gd name="adj" fmla="val 23529"/>
            </a:avLst>
          </a:prstGeom>
          <a:solidFill>
            <a:srgbClr val="F2E4D6"/>
          </a:solidFill>
          <a:ln w="12700">
            <a:solidFill>
              <a:srgbClr val="9B4A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161288"/>
            <a:ext cx="16367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B4A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 Deep Dive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58368" y="1481328"/>
            <a:ext cx="3017520" cy="3611880"/>
          </a:xfrm>
          <a:prstGeom prst="roundRect">
            <a:avLst>
              <a:gd name="adj" fmla="val 2424"/>
            </a:avLst>
          </a:prstGeom>
          <a:solidFill>
            <a:srgbClr val="FFFCF8"/>
          </a:solidFill>
          <a:ln w="12700">
            <a:solidFill>
              <a:srgbClr val="9B4A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609344"/>
            <a:ext cx="26883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API Contracts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883664"/>
            <a:ext cx="2871216" cy="3099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 /api/safety/reports/upsert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request: authenticated proxy request carrying site id, report date, title, report kind, and draft payload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response: saved report identity, route key, and the persisted draft shell used for redirect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877056" y="1481328"/>
            <a:ext cx="2788920" cy="3611880"/>
          </a:xfrm>
          <a:prstGeom prst="roundRect">
            <a:avLst>
              <a:gd name="adj" fmla="val 2623"/>
            </a:avLst>
          </a:prstGeom>
          <a:solidFill>
            <a:srgbClr val="FFFCF8"/>
          </a:solidFill>
          <a:ln w="12700">
            <a:solidFill>
              <a:srgbClr val="9B4A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41648" y="1609344"/>
            <a:ext cx="24597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Server Touchpoints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950208" y="1883664"/>
            <a:ext cx="2642616" cy="3099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app/api/safety/[...path]/route.ts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external upstream FastAPI /api/v1/reports/upsert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67144" y="1481328"/>
            <a:ext cx="3008376" cy="3611880"/>
          </a:xfrm>
          <a:prstGeom prst="roundRect">
            <a:avLst>
              <a:gd name="adj" fmla="val 2432"/>
            </a:avLst>
          </a:prstGeom>
          <a:solidFill>
            <a:srgbClr val="FFFCF8"/>
          </a:solidFill>
          <a:ln w="12700">
            <a:solidFill>
              <a:srgbClr val="9B4A3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31736" y="1609344"/>
            <a:ext cx="26791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Performance Guardrails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940296" y="1883664"/>
            <a:ext cx="2862072" cy="3099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Work-item create submit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target: &lt;= 8000ms, &lt;= 500000 bytes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cache: no read cache; success must invalidate the site report index cache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invalidation: successful create, create retry after failure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68096" y="5413248"/>
            <a:ext cx="90525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Invariant: Validation must complete before the dialog hands off to the editor.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Invariant: Destination intent is resolved from normalized context rather than inline branching in the UI.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Variability: Allowed changes are field copy, create presets, and destination editor mapping.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03504" y="6355080"/>
            <a:ext cx="10058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7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ERP Reverse Platform Full Reference | docs/erp-reverse-platform/modules/work-item.create-dialog/module.md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149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40. Business Module: Work Item Index And Filter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841248"/>
            <a:ext cx="9966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D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docs/erp-reverse-platform/modules/work-item.index-and-filter/module.md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1097280"/>
            <a:ext cx="1645920" cy="310896"/>
          </a:xfrm>
          <a:prstGeom prst="roundRect">
            <a:avLst>
              <a:gd name="adj" fmla="val 23529"/>
            </a:avLst>
          </a:prstGeom>
          <a:solidFill>
            <a:srgbClr val="F2E4D6"/>
          </a:solidFill>
          <a:ln w="12700">
            <a:solidFill>
              <a:srgbClr val="9B4A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161288"/>
            <a:ext cx="14996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B4A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Module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58368" y="1508760"/>
            <a:ext cx="2926080" cy="1920240"/>
          </a:xfrm>
          <a:prstGeom prst="roundRect">
            <a:avLst>
              <a:gd name="adj" fmla="val 3810"/>
            </a:avLst>
          </a:prstGeom>
          <a:solidFill>
            <a:srgbClr val="FFFCF8"/>
          </a:solidFill>
          <a:ln w="12700">
            <a:solidFill>
              <a:srgbClr val="9B4A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636776"/>
            <a:ext cx="25968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It Is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911096"/>
            <a:ext cx="2779776" cy="1408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Provide an index screen for report-like work items with normalized list loading, filtering, sorting,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794760" y="1508760"/>
            <a:ext cx="2743200" cy="1920240"/>
          </a:xfrm>
          <a:prstGeom prst="roundRect">
            <a:avLst>
              <a:gd name="adj" fmla="val 3810"/>
            </a:avLst>
          </a:prstGeom>
          <a:solidFill>
            <a:srgbClr val="FFFCF8"/>
          </a:solidFill>
          <a:ln w="12700">
            <a:solidFill>
              <a:srgbClr val="9B4A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59352" y="1636776"/>
            <a:ext cx="24140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It Matters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867912" y="1911096"/>
            <a:ext cx="2596896" cy="1408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현재 화면명이 아니라 재사용 가능한 모듈 단위를 기준으로 본다.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API, server, performance budget까지 capability 단위로 묶는다.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748272" y="1508760"/>
            <a:ext cx="3127248" cy="1920240"/>
          </a:xfrm>
          <a:prstGeom prst="roundRect">
            <a:avLst>
              <a:gd name="adj" fmla="val 3810"/>
            </a:avLst>
          </a:prstGeom>
          <a:solidFill>
            <a:srgbClr val="FFFCF8"/>
          </a:solidFill>
          <a:ln w="12700">
            <a:solidFill>
              <a:srgbClr val="9B4A3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12864" y="1636776"/>
            <a:ext cx="27980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When To Open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821424" y="1911096"/>
            <a:ext cx="2980944" cy="1408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현재 기능을 다른 산업 ERP로 옮기려 할 때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한 기능의 핵심 workflow와 guardrail을 빠르게 파악할 때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58368" y="3675888"/>
            <a:ext cx="3749040" cy="2011680"/>
          </a:xfrm>
          <a:prstGeom prst="roundRect">
            <a:avLst>
              <a:gd name="adj" fmla="val 3636"/>
            </a:avLst>
          </a:prstGeom>
          <a:solidFill>
            <a:srgbClr val="FFFCF8"/>
          </a:solidFill>
          <a:ln w="12700">
            <a:solidFill>
              <a:srgbClr val="9B4A3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803904"/>
            <a:ext cx="34198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Sections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31520" y="4078224"/>
            <a:ext cx="3602736" cy="1499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Roles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Entry Conditions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 Model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Journeys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Contracts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17720" y="3675888"/>
            <a:ext cx="5257800" cy="2011680"/>
          </a:xfrm>
          <a:prstGeom prst="roundRect">
            <a:avLst>
              <a:gd name="adj" fmla="val 3636"/>
            </a:avLst>
          </a:prstGeom>
          <a:solidFill>
            <a:srgbClr val="FFFCF8"/>
          </a:solidFill>
          <a:ln w="12700">
            <a:solidFill>
              <a:srgbClr val="9B4A3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82312" y="3803904"/>
            <a:ext cx="49286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Connected Artifacts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690872" y="4078224"/>
            <a:ext cx="5111496" cy="1499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docs/erp-reverse-platform/modules/work-item.index-and-filter/module.manifest.json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03504" y="6355080"/>
            <a:ext cx="10058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7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ERP Reverse Platform Full Reference | docs/erp-reverse-platform/modules/work-item.index-and-filter/module.md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149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41. Business Module: Work Item Index And Filter Deep Dive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841248"/>
            <a:ext cx="9966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D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docs/erp-reverse-platform/modules/work-item.index-and-filter/module.md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1097280"/>
            <a:ext cx="1783080" cy="310896"/>
          </a:xfrm>
          <a:prstGeom prst="roundRect">
            <a:avLst>
              <a:gd name="adj" fmla="val 23529"/>
            </a:avLst>
          </a:prstGeom>
          <a:solidFill>
            <a:srgbClr val="F2E4D6"/>
          </a:solidFill>
          <a:ln w="12700">
            <a:solidFill>
              <a:srgbClr val="9B4A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161288"/>
            <a:ext cx="16367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B4A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 Deep Dive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58368" y="1481328"/>
            <a:ext cx="3017520" cy="3611880"/>
          </a:xfrm>
          <a:prstGeom prst="roundRect">
            <a:avLst>
              <a:gd name="adj" fmla="val 2424"/>
            </a:avLst>
          </a:prstGeom>
          <a:solidFill>
            <a:srgbClr val="FFFCF8"/>
          </a:solidFill>
          <a:ln w="12700">
            <a:solidFill>
              <a:srgbClr val="9B4A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609344"/>
            <a:ext cx="26883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API Contracts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883664"/>
            <a:ext cx="2871216" cy="3099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 /api/safety/reports/site/{siteId}/full?limit=50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request: authenticated proxy request with site id and list query parameters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response: report rows normalized into the work-item index model used by both web and mobile shells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877056" y="1481328"/>
            <a:ext cx="2788920" cy="3611880"/>
          </a:xfrm>
          <a:prstGeom prst="roundRect">
            <a:avLst>
              <a:gd name="adj" fmla="val 2623"/>
            </a:avLst>
          </a:prstGeom>
          <a:solidFill>
            <a:srgbClr val="FFFCF8"/>
          </a:solidFill>
          <a:ln w="12700">
            <a:solidFill>
              <a:srgbClr val="9B4A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41648" y="1609344"/>
            <a:ext cx="24597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Server Touchpoints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950208" y="1883664"/>
            <a:ext cx="2642616" cy="3099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app/api/safety/[...path]/route.ts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external upstream FastAPI /api/v1/reports/site/{siteId}/full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67144" y="1481328"/>
            <a:ext cx="3008376" cy="3611880"/>
          </a:xfrm>
          <a:prstGeom prst="roundRect">
            <a:avLst>
              <a:gd name="adj" fmla="val 2432"/>
            </a:avLst>
          </a:prstGeom>
          <a:solidFill>
            <a:srgbClr val="FFFCF8"/>
          </a:solidFill>
          <a:ln w="12700">
            <a:solidFill>
              <a:srgbClr val="9B4A3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31736" y="1609344"/>
            <a:ext cx="26791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Performance Guardrails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940296" y="1883664"/>
            <a:ext cx="2862072" cy="3099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Work-item index list fetch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target: &lt;= 8000ms, &lt;= 3000000 bytes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cache: shared site report index cache with force-reload escape hatch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invalidation: site switch, explicit reload, successful create/update on the same site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68096" y="5413248"/>
            <a:ext cx="90525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Invariant: The same normalized row model drives list rendering, empty state, and navigation intent.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Invariant: Filtering and sorting do not lose route-derived context.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Variability: Allowed changes are row badges, column sets, and creation entry labels.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8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Variability: The list/filter state model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03504" y="6355080"/>
            <a:ext cx="10058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7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ERP Reverse Platform Full Reference | docs/erp-reverse-platform/modules/work-item.index-and-filter/module.md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ERP Reverse Platform Full Reference</dc:title>
  <dc:subject>ERP Reverse Platform Full Reference</dc:subject>
  <dc:creator>OpenAI Codex</dc:creator>
  <cp:lastModifiedBy>OpenAI Codex</cp:lastModifiedBy>
  <cp:revision>1</cp:revision>
  <dcterms:created xsi:type="dcterms:W3CDTF">2026-04-21T11:07:49Z</dcterms:created>
  <dcterms:modified xsi:type="dcterms:W3CDTF">2026-04-21T11:07:49Z</dcterms:modified>
</cp:coreProperties>
</file>